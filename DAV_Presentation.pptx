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2" r:id="rId1"/>
  </p:sldMasterIdLst>
  <p:sldIdLst>
    <p:sldId id="256" r:id="rId2"/>
    <p:sldId id="257" r:id="rId3"/>
    <p:sldId id="258" r:id="rId4"/>
    <p:sldId id="259" r:id="rId5"/>
    <p:sldId id="260" r:id="rId6"/>
    <p:sldId id="276" r:id="rId7"/>
    <p:sldId id="279" r:id="rId8"/>
    <p:sldId id="261" r:id="rId9"/>
    <p:sldId id="262" r:id="rId10"/>
    <p:sldId id="278" r:id="rId11"/>
    <p:sldId id="263" r:id="rId12"/>
    <p:sldId id="280" r:id="rId13"/>
    <p:sldId id="281" r:id="rId14"/>
    <p:sldId id="264" r:id="rId15"/>
    <p:sldId id="265" r:id="rId16"/>
    <p:sldId id="266" r:id="rId17"/>
    <p:sldId id="267" r:id="rId18"/>
    <p:sldId id="268" r:id="rId19"/>
    <p:sldId id="269" r:id="rId20"/>
    <p:sldId id="270" r:id="rId21"/>
    <p:sldId id="271" r:id="rId22"/>
    <p:sldId id="273" r:id="rId23"/>
    <p:sldId id="274" r:id="rId24"/>
    <p:sldId id="275"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3" d="100"/>
          <a:sy n="73" d="100"/>
        </p:scale>
        <p:origin x="173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954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01358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2603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2222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1550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127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2435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4620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0178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9514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556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7686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4619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2606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2985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259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12047566"/>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199" y="1269999"/>
            <a:ext cx="7031422" cy="1967187"/>
          </a:xfrm>
        </p:spPr>
        <p:txBody>
          <a:bodyPr>
            <a:noAutofit/>
          </a:bodyPr>
          <a:lstStyle/>
          <a:p>
            <a:pPr algn="ctr"/>
            <a:r>
              <a:rPr lang="en-US" sz="40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Global Water Quality &amp; Health Impact Analysis</a:t>
            </a:r>
            <a:br>
              <a:rPr lang="en-US" sz="40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br>
            <a:endParaRPr sz="40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6" name="Subtitle 2">
            <a:extLst>
              <a:ext uri="{FF2B5EF4-FFF2-40B4-BE49-F238E27FC236}">
                <a16:creationId xmlns:a16="http://schemas.microsoft.com/office/drawing/2014/main" id="{A52E65C4-CC98-0C13-FC0D-679A1752254F}"/>
              </a:ext>
            </a:extLst>
          </p:cNvPr>
          <p:cNvSpPr txBox="1">
            <a:spLocks/>
          </p:cNvSpPr>
          <p:nvPr/>
        </p:nvSpPr>
        <p:spPr>
          <a:xfrm>
            <a:off x="1560978" y="2324848"/>
            <a:ext cx="6022042" cy="326315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lgn="ctr">
              <a:buNone/>
            </a:pPr>
            <a:r>
              <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rPr>
              <a:t>Presented By:</a:t>
            </a:r>
          </a:p>
          <a:p>
            <a:pPr marL="0" indent="0" algn="ctr">
              <a:buNone/>
            </a:pPr>
            <a:r>
              <a:rPr lang="en-IN" sz="2200" b="1" dirty="0" err="1">
                <a:solidFill>
                  <a:schemeClr val="tx1"/>
                </a:solidFill>
                <a:latin typeface="Calibri" panose="020F0502020204030204" pitchFamily="34" charset="0"/>
                <a:ea typeface="Calibri" panose="020F0502020204030204" pitchFamily="34" charset="0"/>
                <a:cs typeface="Calibri" panose="020F0502020204030204" pitchFamily="34" charset="0"/>
              </a:rPr>
              <a:t>Archand</a:t>
            </a:r>
            <a:r>
              <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rPr>
              <a:t> Raj</a:t>
            </a:r>
          </a:p>
          <a:p>
            <a:pPr marL="0" indent="0" algn="ctr">
              <a:buNone/>
            </a:pPr>
            <a:r>
              <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rPr>
              <a:t>Batch : PGDDM52</a:t>
            </a:r>
          </a:p>
          <a:p>
            <a:pPr marL="0" indent="0" algn="ctr">
              <a:buNone/>
            </a:pPr>
            <a:r>
              <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rPr>
              <a:t>Course : Data Science And Machine Learning</a:t>
            </a:r>
            <a:endParaRPr lang="en-IN" sz="2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endParaRPr lang="en-IN" b="1" dirty="0">
              <a:solidFill>
                <a:schemeClr val="bg1"/>
              </a:solidFill>
              <a:latin typeface="Times New Roman" panose="02020603050405020304" pitchFamily="18" charset="0"/>
              <a:cs typeface="Times New Roman" panose="02020603050405020304" pitchFamily="18" charset="0"/>
            </a:endParaRPr>
          </a:p>
          <a:p>
            <a:pPr algn="ctr"/>
            <a:endParaRPr lang="en-IN" b="1" dirty="0">
              <a:solidFill>
                <a:schemeClr val="bg1"/>
              </a:solidFill>
              <a:latin typeface="Times New Roman" panose="02020603050405020304" pitchFamily="18" charset="0"/>
              <a:cs typeface="Times New Roman" panose="02020603050405020304" pitchFamily="18" charset="0"/>
            </a:endParaRPr>
          </a:p>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Introduction</a:t>
            </a:r>
          </a:p>
        </p:txBody>
      </p:sp>
      <p:sp>
        <p:nvSpPr>
          <p:cNvPr id="3" name="Content Placeholder 2"/>
          <p:cNvSpPr>
            <a:spLocks noGrp="1"/>
          </p:cNvSpPr>
          <p:nvPr>
            <p:ph idx="1"/>
          </p:nvPr>
        </p:nvSpPr>
        <p:spPr>
          <a:xfrm>
            <a:off x="942803" y="1514111"/>
            <a:ext cx="7258393" cy="4697506"/>
          </a:xfrm>
        </p:spPr>
        <p:txBody>
          <a:bodyPr>
            <a:no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We live in an era of rapid environmental change where monitoring water pollution has become critical for public health and ecosystem survival.</a:t>
            </a:r>
            <a:r>
              <a:rPr lang="en-US" sz="2000" dirty="0">
                <a:latin typeface="Calibri" panose="020F0502020204030204" pitchFamily="34" charset="0"/>
                <a:ea typeface="Calibri" panose="020F0502020204030204" pitchFamily="34" charset="0"/>
                <a:cs typeface="Calibri" panose="020F0502020204030204" pitchFamily="34" charset="0"/>
              </a:rPr>
              <a:t> Safe and clean water is a fundamental necessity, but human activities, industrial runoffs, and changing weather patterns constantly threaten its quality.</a:t>
            </a:r>
          </a:p>
          <a:p>
            <a:r>
              <a:rPr lang="en-US" sz="2000" b="1" dirty="0">
                <a:latin typeface="Calibri" panose="020F0502020204030204" pitchFamily="34" charset="0"/>
                <a:ea typeface="Calibri" panose="020F0502020204030204" pitchFamily="34" charset="0"/>
                <a:cs typeface="Calibri" panose="020F0502020204030204" pitchFamily="34" charset="0"/>
              </a:rPr>
              <a:t>Regular monitoring of key parameters is one of the most effective ways to track and mitigate contamination before it reaches critical levels.</a:t>
            </a:r>
            <a:r>
              <a:rPr lang="en-US" sz="2000" dirty="0">
                <a:latin typeface="Calibri" panose="020F0502020204030204" pitchFamily="34" charset="0"/>
                <a:ea typeface="Calibri" panose="020F0502020204030204" pitchFamily="34" charset="0"/>
                <a:cs typeface="Calibri" panose="020F0502020204030204" pitchFamily="34" charset="0"/>
              </a:rPr>
              <a:t> However, water safety is not uniform. Pollution metrics vary dynamically across different regions, seasons, and water sources based on multiple interacting environmental factors</a:t>
            </a:r>
          </a:p>
          <a:p>
            <a:r>
              <a:rPr lang="en-US" sz="2000" dirty="0">
                <a:latin typeface="Calibri" panose="020F0502020204030204" pitchFamily="34" charset="0"/>
                <a:ea typeface="Calibri" panose="020F0502020204030204" pitchFamily="34" charset="0"/>
                <a:cs typeface="Calibri" panose="020F0502020204030204" pitchFamily="34" charset="0"/>
              </a:rPr>
              <a:t>Understanding these variations through data-driven analysis is essential to identify the root causes of contamination, predict pollution spikes, and develop highly effective, proactive water treatment and resource management strategies.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Objective</a:t>
            </a:r>
          </a:p>
        </p:txBody>
      </p:sp>
      <p:sp>
        <p:nvSpPr>
          <p:cNvPr id="3" name="Content Placeholder 2"/>
          <p:cNvSpPr>
            <a:spLocks noGrp="1"/>
          </p:cNvSpPr>
          <p:nvPr>
            <p:ph idx="1"/>
          </p:nvPr>
        </p:nvSpPr>
        <p:spPr>
          <a:xfrm>
            <a:off x="953278" y="1566888"/>
            <a:ext cx="7237444" cy="4977152"/>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main objective of this project is to analyze the key environmental metrics in the water pollution dataset and understand the factors that drive water contamination and quality degradation.</a:t>
            </a:r>
          </a:p>
          <a:p>
            <a:r>
              <a:rPr lang="en-US" sz="2000" b="1" dirty="0">
                <a:latin typeface="Calibri" panose="020F0502020204030204" pitchFamily="34" charset="0"/>
                <a:ea typeface="Calibri" panose="020F0502020204030204" pitchFamily="34" charset="0"/>
                <a:cs typeface="Calibri" panose="020F0502020204030204" pitchFamily="34" charset="0"/>
              </a:rPr>
              <a:t>This includes examining how variables such as water source, region, season, temperature, and rainfall impact critical metrics like turbidity, pH level, dissolved oxygen, chemical concentrations, and overall safety index.</a:t>
            </a:r>
            <a:r>
              <a:rPr lang="en-US" sz="2000" dirty="0">
                <a:latin typeface="Calibri" panose="020F0502020204030204" pitchFamily="34" charset="0"/>
                <a:ea typeface="Calibri" panose="020F0502020204030204" pitchFamily="34" charset="0"/>
                <a:cs typeface="Calibri" panose="020F0502020204030204" pitchFamily="34" charset="0"/>
              </a:rPr>
              <a:t> The goal is to identify patterns, relationships, and trends that explain variations in water quality.</a:t>
            </a:r>
          </a:p>
          <a:p>
            <a:r>
              <a:rPr lang="en-US" sz="2000" dirty="0">
                <a:latin typeface="Calibri" panose="020F0502020204030204" pitchFamily="34" charset="0"/>
                <a:ea typeface="Calibri" panose="020F0502020204030204" pitchFamily="34" charset="0"/>
                <a:cs typeface="Calibri" panose="020F0502020204030204" pitchFamily="34" charset="0"/>
              </a:rPr>
              <a:t>The project aims to provide data-driven insights that can help environmentalists, municipal authorities, and treatment plants make better decisions regarding water resource management, contamination control, and infrastructure planning.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Business Understanding</a:t>
            </a:r>
          </a:p>
        </p:txBody>
      </p:sp>
      <p:sp>
        <p:nvSpPr>
          <p:cNvPr id="3" name="Content Placeholder 2"/>
          <p:cNvSpPr>
            <a:spLocks noGrp="1"/>
          </p:cNvSpPr>
          <p:nvPr>
            <p:ph idx="1"/>
          </p:nvPr>
        </p:nvSpPr>
        <p:spPr>
          <a:xfrm>
            <a:off x="945932" y="1561504"/>
            <a:ext cx="6347714" cy="3880773"/>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Identify high-risk contamination zones and sources</a:t>
            </a:r>
            <a:endParaRPr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Understand the impact of environmental factors on water quality</a:t>
            </a:r>
            <a:endParaRPr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Optimize water treatment and mitigation resources</a:t>
            </a:r>
          </a:p>
          <a:p>
            <a:endParaRPr sz="2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Data Overview</a:t>
            </a:r>
          </a:p>
        </p:txBody>
      </p:sp>
      <p:sp>
        <p:nvSpPr>
          <p:cNvPr id="3" name="Content Placeholder 2"/>
          <p:cNvSpPr>
            <a:spLocks noGrp="1"/>
          </p:cNvSpPr>
          <p:nvPr>
            <p:ph idx="1"/>
          </p:nvPr>
        </p:nvSpPr>
        <p:spPr>
          <a:xfrm>
            <a:off x="766949" y="1528946"/>
            <a:ext cx="7969623" cy="5118847"/>
          </a:xfrm>
        </p:spPr>
        <p:txBody>
          <a:bodyPr>
            <a:no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This dataset contains </a:t>
            </a:r>
            <a:r>
              <a:rPr lang="en-US" sz="2000" b="1" dirty="0">
                <a:latin typeface="Calibri" panose="020F0502020204030204" pitchFamily="34" charset="0"/>
                <a:ea typeface="Calibri" panose="020F0502020204030204" pitchFamily="34" charset="0"/>
                <a:cs typeface="Calibri" panose="020F0502020204030204" pitchFamily="34" charset="0"/>
              </a:rPr>
              <a:t>30,000 records</a:t>
            </a:r>
            <a:r>
              <a:rPr lang="en-US" sz="2000" dirty="0">
                <a:latin typeface="Calibri" panose="020F0502020204030204" pitchFamily="34" charset="0"/>
                <a:ea typeface="Calibri" panose="020F0502020204030204" pitchFamily="34" charset="0"/>
                <a:cs typeface="Calibri" panose="020F0502020204030204" pitchFamily="34" charset="0"/>
              </a:rPr>
              <a:t> of water quality metrics collected from various geographical regions and water sources.</a:t>
            </a:r>
          </a:p>
          <a:p>
            <a:r>
              <a:rPr lang="en-US" sz="2000" dirty="0">
                <a:latin typeface="Calibri" panose="020F0502020204030204" pitchFamily="34" charset="0"/>
                <a:ea typeface="Calibri" panose="020F0502020204030204" pitchFamily="34" charset="0"/>
                <a:cs typeface="Calibri" panose="020F0502020204030204" pitchFamily="34" charset="0"/>
              </a:rPr>
              <a:t>It includes a comprehensive range of columns covering both environmental conditions and chemical safety indicators, providing a multi-dimensional view of water health.</a:t>
            </a:r>
          </a:p>
          <a:p>
            <a:r>
              <a:rPr lang="en-US" sz="2000" dirty="0">
                <a:latin typeface="Calibri" panose="020F0502020204030204" pitchFamily="34" charset="0"/>
                <a:ea typeface="Calibri" panose="020F0502020204030204" pitchFamily="34" charset="0"/>
                <a:cs typeface="Calibri" panose="020F0502020204030204" pitchFamily="34" charset="0"/>
              </a:rPr>
              <a:t>The dataset consists of information related to regional locations, water body types, and seasonal weather patterns, along with key quality metrics such as turbidity, pH levels, dissolved oxygen, and chemical concentrations.</a:t>
            </a:r>
          </a:p>
          <a:p>
            <a:r>
              <a:rPr lang="en-US" sz="2000" dirty="0">
                <a:latin typeface="Calibri" panose="020F0502020204030204" pitchFamily="34" charset="0"/>
                <a:ea typeface="Calibri" panose="020F0502020204030204" pitchFamily="34" charset="0"/>
                <a:cs typeface="Calibri" panose="020F0502020204030204" pitchFamily="34" charset="0"/>
              </a:rPr>
              <a:t>The data includes both categorical variables (e.g., region, water source) and numerical variables (e.g., rainfall, contamination levels), making it suitable for comparison, correlation, and trend analysis. </a:t>
            </a:r>
          </a:p>
          <a:p>
            <a:r>
              <a:rPr lang="en-US" sz="2000" dirty="0">
                <a:latin typeface="Calibri" panose="020F0502020204030204" pitchFamily="34" charset="0"/>
                <a:ea typeface="Calibri" panose="020F0502020204030204" pitchFamily="34" charset="0"/>
                <a:cs typeface="Calibri" panose="020F0502020204030204" pitchFamily="34" charset="0"/>
              </a:rPr>
              <a:t>This dataset is useful for understanding how environmental factors influence water safety and for identifying patterns in pollution spikes across different regions and seasons.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39F7-0773-8F79-8E74-9FC5A03CFCF1}"/>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Dataset</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F79C9CE-BC0B-695F-7700-1852DD412D0C}"/>
              </a:ext>
            </a:extLst>
          </p:cNvPr>
          <p:cNvPicPr>
            <a:picLocks noChangeAspect="1"/>
          </p:cNvPicPr>
          <p:nvPr/>
        </p:nvPicPr>
        <p:blipFill>
          <a:blip r:embed="rId2"/>
          <a:stretch>
            <a:fillRect/>
          </a:stretch>
        </p:blipFill>
        <p:spPr>
          <a:xfrm>
            <a:off x="599089" y="1713186"/>
            <a:ext cx="8233587" cy="4535214"/>
          </a:xfrm>
          <a:prstGeom prst="rect">
            <a:avLst/>
          </a:prstGeom>
        </p:spPr>
      </p:pic>
    </p:spTree>
    <p:extLst>
      <p:ext uri="{BB962C8B-B14F-4D97-AF65-F5344CB8AC3E}">
        <p14:creationId xmlns:p14="http://schemas.microsoft.com/office/powerpoint/2010/main" val="1000662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46D4D1-D0E2-82B3-8D44-E7106C3BD944}"/>
              </a:ext>
            </a:extLst>
          </p:cNvPr>
          <p:cNvPicPr>
            <a:picLocks noChangeAspect="1"/>
          </p:cNvPicPr>
          <p:nvPr/>
        </p:nvPicPr>
        <p:blipFill>
          <a:blip r:embed="rId2"/>
          <a:stretch>
            <a:fillRect/>
          </a:stretch>
        </p:blipFill>
        <p:spPr>
          <a:xfrm>
            <a:off x="637888" y="1262927"/>
            <a:ext cx="7805160" cy="4717465"/>
          </a:xfrm>
          <a:prstGeom prst="rect">
            <a:avLst/>
          </a:prstGeom>
        </p:spPr>
      </p:pic>
    </p:spTree>
    <p:extLst>
      <p:ext uri="{BB962C8B-B14F-4D97-AF65-F5344CB8AC3E}">
        <p14:creationId xmlns:p14="http://schemas.microsoft.com/office/powerpoint/2010/main" val="1580221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Data Source</a:t>
            </a:r>
          </a:p>
        </p:txBody>
      </p:sp>
      <p:sp>
        <p:nvSpPr>
          <p:cNvPr id="3" name="Content Placeholder 2"/>
          <p:cNvSpPr>
            <a:spLocks noGrp="1"/>
          </p:cNvSpPr>
          <p:nvPr>
            <p:ph idx="1"/>
          </p:nvPr>
        </p:nvSpPr>
        <p:spPr>
          <a:xfrm>
            <a:off x="1002742" y="1538219"/>
            <a:ext cx="7554228" cy="5271247"/>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The dataset used in this project is a comprehensive collection of environmental records designed to simulate or represent real-world water quality monitoring scenarios.</a:t>
            </a:r>
          </a:p>
          <a:p>
            <a:r>
              <a:rPr lang="en-US" sz="2000" dirty="0">
                <a:latin typeface="Calibri" panose="020F0502020204030204" pitchFamily="34" charset="0"/>
                <a:ea typeface="Calibri" panose="020F0502020204030204" pitchFamily="34" charset="0"/>
                <a:cs typeface="Calibri" panose="020F0502020204030204" pitchFamily="34" charset="0"/>
              </a:rPr>
              <a:t>It represents realistic patterns of environmental behavior, including chemical concentrations, physical water properties, and weather-related impacts.</a:t>
            </a:r>
          </a:p>
          <a:p>
            <a:r>
              <a:rPr lang="en-US" sz="2000" b="1" dirty="0">
                <a:latin typeface="Calibri" panose="020F0502020204030204" pitchFamily="34" charset="0"/>
                <a:ea typeface="Calibri" panose="020F0502020204030204" pitchFamily="34" charset="0"/>
                <a:cs typeface="Calibri" panose="020F0502020204030204" pitchFamily="34" charset="0"/>
              </a:rPr>
              <a:t>The data includes information from multiple geographical locations and diverse water body types, such as rivers, lakes, and groundwater reserves.</a:t>
            </a:r>
          </a:p>
          <a:p>
            <a:r>
              <a:rPr lang="en-US" sz="2000" dirty="0">
                <a:latin typeface="Calibri" panose="020F0502020204030204" pitchFamily="34" charset="0"/>
                <a:ea typeface="Calibri" panose="020F0502020204030204" pitchFamily="34" charset="0"/>
                <a:cs typeface="Calibri" panose="020F0502020204030204" pitchFamily="34" charset="0"/>
              </a:rPr>
              <a:t>This dataset is primarily used for educational and analytical purposes, helping to identify trends and risk factors in global water safety management.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EDA Process</a:t>
            </a:r>
          </a:p>
        </p:txBody>
      </p:sp>
      <p:sp>
        <p:nvSpPr>
          <p:cNvPr id="3" name="Content Placeholder 2"/>
          <p:cNvSpPr>
            <a:spLocks noGrp="1"/>
          </p:cNvSpPr>
          <p:nvPr>
            <p:ph idx="1"/>
          </p:nvPr>
        </p:nvSpPr>
        <p:spPr>
          <a:xfrm>
            <a:off x="1039661" y="1327759"/>
            <a:ext cx="7494740" cy="4583463"/>
          </a:xfrm>
        </p:spPr>
        <p:txBody>
          <a:bodyPr>
            <a:normAutofit/>
          </a:bodyPr>
          <a:lstStyle/>
          <a:p>
            <a:pPr>
              <a:buFont typeface="Wingdings" panose="05000000000000000000" pitchFamily="2" charset="2"/>
              <a:buChar char="q"/>
            </a:pPr>
            <a:r>
              <a:rPr lang="en-IN" sz="2000" dirty="0">
                <a:latin typeface="Calibri" panose="020F0502020204030204" pitchFamily="34" charset="0"/>
                <a:ea typeface="Calibri" panose="020F0502020204030204" pitchFamily="34" charset="0"/>
                <a:cs typeface="Calibri" panose="020F0502020204030204" pitchFamily="34" charset="0"/>
              </a:rPr>
              <a:t>Data Loading</a:t>
            </a:r>
          </a:p>
          <a:p>
            <a:pPr>
              <a:buFont typeface="Wingdings" panose="05000000000000000000" pitchFamily="2" charset="2"/>
              <a:buChar char="q"/>
            </a:pPr>
            <a:r>
              <a:rPr lang="en-US" sz="2000" dirty="0">
                <a:latin typeface="Calibri" panose="020F0502020204030204" pitchFamily="34" charset="0"/>
                <a:ea typeface="Calibri" panose="020F0502020204030204" pitchFamily="34" charset="0"/>
                <a:cs typeface="Calibri" panose="020F0502020204030204" pitchFamily="34" charset="0"/>
              </a:rPr>
              <a:t>Understanding the Data (head(), info(), describe())</a:t>
            </a:r>
          </a:p>
          <a:p>
            <a:pPr>
              <a:buFont typeface="Wingdings" panose="05000000000000000000" pitchFamily="2" charset="2"/>
              <a:buChar char="q"/>
            </a:pPr>
            <a:r>
              <a:rPr lang="en-US" sz="2000" dirty="0">
                <a:latin typeface="Calibri" panose="020F0502020204030204" pitchFamily="34" charset="0"/>
                <a:ea typeface="Calibri" panose="020F0502020204030204" pitchFamily="34" charset="0"/>
                <a:cs typeface="Calibri" panose="020F0502020204030204" pitchFamily="34" charset="0"/>
              </a:rPr>
              <a:t>Data Cleaning (missing values, duplicates, data types)</a:t>
            </a:r>
          </a:p>
          <a:p>
            <a:pPr>
              <a:buFont typeface="Wingdings" panose="05000000000000000000" pitchFamily="2" charset="2"/>
              <a:buChar char="q"/>
            </a:pPr>
            <a:r>
              <a:rPr lang="en-IN" sz="2000" dirty="0">
                <a:latin typeface="Calibri" panose="020F0502020204030204" pitchFamily="34" charset="0"/>
                <a:ea typeface="Calibri" panose="020F0502020204030204" pitchFamily="34" charset="0"/>
                <a:cs typeface="Calibri" panose="020F0502020204030204" pitchFamily="34" charset="0"/>
              </a:rPr>
              <a:t>Data Categorization (categorical vs numerical)</a:t>
            </a:r>
          </a:p>
          <a:p>
            <a:pPr>
              <a:buFont typeface="Wingdings" panose="05000000000000000000" pitchFamily="2" charset="2"/>
              <a:buChar char="q"/>
            </a:pPr>
            <a:r>
              <a:rPr lang="en-IN" sz="2000" dirty="0">
                <a:latin typeface="Calibri" panose="020F0502020204030204" pitchFamily="34" charset="0"/>
                <a:ea typeface="Calibri" panose="020F0502020204030204" pitchFamily="34" charset="0"/>
                <a:cs typeface="Calibri" panose="020F0502020204030204" pitchFamily="34" charset="0"/>
              </a:rPr>
              <a:t>Univariate Analysis (single variable analysis)</a:t>
            </a:r>
          </a:p>
          <a:p>
            <a:pPr>
              <a:buFont typeface="Wingdings" panose="05000000000000000000" pitchFamily="2" charset="2"/>
              <a:buChar char="q"/>
            </a:pPr>
            <a:r>
              <a:rPr lang="en-US" sz="2000" dirty="0">
                <a:latin typeface="Calibri" panose="020F0502020204030204" pitchFamily="34" charset="0"/>
                <a:ea typeface="Calibri" panose="020F0502020204030204" pitchFamily="34" charset="0"/>
                <a:cs typeface="Calibri" panose="020F0502020204030204" pitchFamily="34" charset="0"/>
              </a:rPr>
              <a:t>Bivariate Analysis (relationship between two variables)</a:t>
            </a:r>
          </a:p>
          <a:p>
            <a:pPr>
              <a:buFont typeface="Wingdings" panose="05000000000000000000" pitchFamily="2" charset="2"/>
              <a:buChar char="q"/>
            </a:pPr>
            <a:r>
              <a:rPr lang="en-IN" sz="2000" dirty="0">
                <a:latin typeface="Calibri" panose="020F0502020204030204" pitchFamily="34" charset="0"/>
                <a:ea typeface="Calibri" panose="020F0502020204030204" pitchFamily="34" charset="0"/>
                <a:cs typeface="Calibri" panose="020F0502020204030204" pitchFamily="34" charset="0"/>
              </a:rPr>
              <a:t>Multivariate Analysis (multiple variable relationships)</a:t>
            </a:r>
          </a:p>
          <a:p>
            <a:pPr>
              <a:buFont typeface="Wingdings" panose="05000000000000000000" pitchFamily="2" charset="2"/>
              <a:buChar char="q"/>
            </a:pPr>
            <a:r>
              <a:rPr lang="en-US" sz="2000" dirty="0">
                <a:latin typeface="Calibri" panose="020F0502020204030204" pitchFamily="34" charset="0"/>
                <a:ea typeface="Calibri" panose="020F0502020204030204" pitchFamily="34" charset="0"/>
                <a:cs typeface="Calibri" panose="020F0502020204030204" pitchFamily="34" charset="0"/>
              </a:rPr>
              <a:t>Data Visualization (charts and graphs)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96620-FBCD-B384-542E-6951AF57527F}"/>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EDA Using Packages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EF25B457-A53E-86F0-E6D3-6015C0C5070C}"/>
              </a:ext>
            </a:extLst>
          </p:cNvPr>
          <p:cNvSpPr>
            <a:spLocks noGrp="1"/>
          </p:cNvSpPr>
          <p:nvPr>
            <p:ph idx="1"/>
          </p:nvPr>
        </p:nvSpPr>
        <p:spPr>
          <a:xfrm>
            <a:off x="609600" y="1299881"/>
            <a:ext cx="8364071" cy="5289177"/>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Exploratory Data Analysis (EDA) </a:t>
            </a:r>
            <a:r>
              <a:rPr lang="en-US" dirty="0">
                <a:latin typeface="Calibri" panose="020F0502020204030204" pitchFamily="34" charset="0"/>
                <a:ea typeface="Calibri" panose="020F0502020204030204" pitchFamily="34" charset="0"/>
                <a:cs typeface="Calibri" panose="020F0502020204030204" pitchFamily="34" charset="0"/>
              </a:rPr>
              <a:t>is an essential step in the data analysis process that helps in understanding the structure, patterns, and key characteristics of a dataset. It involves summarizing data, detecting anomalies, and identifying relationships between variables. There are several Python packages commonly used for performing EDA. Some of the popular ones include:</a:t>
            </a:r>
          </a:p>
          <a:p>
            <a:r>
              <a:rPr lang="en-US" b="1" dirty="0">
                <a:latin typeface="Calibri" panose="020F0502020204030204" pitchFamily="34" charset="0"/>
                <a:ea typeface="Calibri" panose="020F0502020204030204" pitchFamily="34" charset="0"/>
                <a:cs typeface="Calibri" panose="020F0502020204030204" pitchFamily="34" charset="0"/>
              </a:rPr>
              <a:t>Pandas:</a:t>
            </a:r>
            <a:r>
              <a:rPr lang="en-US" dirty="0">
                <a:latin typeface="Calibri" panose="020F0502020204030204" pitchFamily="34" charset="0"/>
                <a:ea typeface="Calibri" panose="020F0502020204030204" pitchFamily="34" charset="0"/>
                <a:cs typeface="Calibri" panose="020F0502020204030204" pitchFamily="34" charset="0"/>
              </a:rPr>
              <a:t> Pandas is a powerful library used for data manipulation and analysis. It provides data structures like </a:t>
            </a:r>
            <a:r>
              <a:rPr lang="en-US" dirty="0" err="1">
                <a:latin typeface="Calibri" panose="020F0502020204030204" pitchFamily="34" charset="0"/>
                <a:ea typeface="Calibri" panose="020F0502020204030204" pitchFamily="34" charset="0"/>
                <a:cs typeface="Calibri" panose="020F0502020204030204" pitchFamily="34" charset="0"/>
              </a:rPr>
              <a:t>DataFrames</a:t>
            </a:r>
            <a:r>
              <a:rPr lang="en-US" dirty="0">
                <a:latin typeface="Calibri" panose="020F0502020204030204" pitchFamily="34" charset="0"/>
                <a:ea typeface="Calibri" panose="020F0502020204030204" pitchFamily="34" charset="0"/>
                <a:cs typeface="Calibri" panose="020F0502020204030204" pitchFamily="34" charset="0"/>
              </a:rPr>
              <a:t> and Series, which are useful for loading, cleaning, and exploring datasets efficiently.</a:t>
            </a:r>
          </a:p>
          <a:p>
            <a:r>
              <a:rPr lang="en-US" b="1" dirty="0">
                <a:latin typeface="Calibri" panose="020F0502020204030204" pitchFamily="34" charset="0"/>
                <a:ea typeface="Calibri" panose="020F0502020204030204" pitchFamily="34" charset="0"/>
                <a:cs typeface="Calibri" panose="020F0502020204030204" pitchFamily="34" charset="0"/>
              </a:rPr>
              <a:t>NumPy:</a:t>
            </a:r>
            <a:r>
              <a:rPr lang="en-US" dirty="0">
                <a:latin typeface="Calibri" panose="020F0502020204030204" pitchFamily="34" charset="0"/>
                <a:ea typeface="Calibri" panose="020F0502020204030204" pitchFamily="34" charset="0"/>
                <a:cs typeface="Calibri" panose="020F0502020204030204" pitchFamily="34" charset="0"/>
              </a:rPr>
              <a:t> NumPy is used for numerical computations and supports operations on large arrays and matrices. It is often used alongside Pandas for performing mathematical and statistical calculations.</a:t>
            </a:r>
          </a:p>
          <a:p>
            <a:r>
              <a:rPr lang="en-US" b="1" dirty="0">
                <a:latin typeface="Calibri" panose="020F0502020204030204" pitchFamily="34" charset="0"/>
                <a:ea typeface="Calibri" panose="020F0502020204030204" pitchFamily="34" charset="0"/>
                <a:cs typeface="Calibri" panose="020F0502020204030204" pitchFamily="34" charset="0"/>
              </a:rPr>
              <a:t>Matplotlib:</a:t>
            </a:r>
            <a:r>
              <a:rPr lang="en-US" dirty="0">
                <a:latin typeface="Calibri" panose="020F0502020204030204" pitchFamily="34" charset="0"/>
                <a:ea typeface="Calibri" panose="020F0502020204030204" pitchFamily="34" charset="0"/>
                <a:cs typeface="Calibri" panose="020F0502020204030204" pitchFamily="34" charset="0"/>
              </a:rPr>
              <a:t> Matplotlib is a widely used visualization library that helps in creating various types of plots such as line charts, bar charts, histograms, and scatter plots to understand data trends and distributions.</a:t>
            </a:r>
          </a:p>
          <a:p>
            <a:r>
              <a:rPr lang="en-US" b="1" dirty="0">
                <a:latin typeface="Calibri" panose="020F0502020204030204" pitchFamily="34" charset="0"/>
                <a:ea typeface="Calibri" panose="020F0502020204030204" pitchFamily="34" charset="0"/>
                <a:cs typeface="Calibri" panose="020F0502020204030204" pitchFamily="34" charset="0"/>
              </a:rPr>
              <a:t>Seaborn:</a:t>
            </a:r>
            <a:r>
              <a:rPr lang="en-US" dirty="0">
                <a:latin typeface="Calibri" panose="020F0502020204030204" pitchFamily="34" charset="0"/>
                <a:ea typeface="Calibri" panose="020F0502020204030204" pitchFamily="34" charset="0"/>
                <a:cs typeface="Calibri" panose="020F0502020204030204" pitchFamily="34" charset="0"/>
              </a:rPr>
              <a:t> Seaborn is built on top of Matplotlib and provides a higher-level interface for creating visually appealing and informative statistical graphics. It simplifies complex visualizations like heatmaps, box plots, and violin plots.</a:t>
            </a: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6393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Data Cleaning</a:t>
            </a:r>
          </a:p>
        </p:txBody>
      </p:sp>
      <p:sp>
        <p:nvSpPr>
          <p:cNvPr id="3" name="Content Placeholder 2"/>
          <p:cNvSpPr>
            <a:spLocks noGrp="1"/>
          </p:cNvSpPr>
          <p:nvPr>
            <p:ph idx="1"/>
          </p:nvPr>
        </p:nvSpPr>
        <p:spPr>
          <a:xfrm>
            <a:off x="693683" y="1278965"/>
            <a:ext cx="8061434" cy="5416125"/>
          </a:xfrm>
        </p:spPr>
        <p:txBody>
          <a:bodyPr>
            <a:noAutofit/>
          </a:bodyPr>
          <a:lstStyle/>
          <a:p>
            <a:r>
              <a:rPr lang="en-US" b="1" dirty="0">
                <a:latin typeface="Calibri" panose="020F0502020204030204" pitchFamily="34" charset="0"/>
                <a:ea typeface="Calibri" panose="020F0502020204030204" pitchFamily="34" charset="0"/>
                <a:cs typeface="Calibri" panose="020F0502020204030204" pitchFamily="34" charset="0"/>
              </a:rPr>
              <a:t>Handling Missing Values:</a:t>
            </a:r>
            <a:r>
              <a:rPr lang="en-US" dirty="0">
                <a:latin typeface="Calibri" panose="020F0502020204030204" pitchFamily="34" charset="0"/>
                <a:ea typeface="Calibri" panose="020F0502020204030204" pitchFamily="34" charset="0"/>
                <a:cs typeface="Calibri" panose="020F0502020204030204" pitchFamily="34" charset="0"/>
              </a:rPr>
              <a:t> Identified and addressed null entries in critical columns like pH levels or chemical concentrations to maintain dataset integrity. </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 Check for missing values in the dataset</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print(</a:t>
            </a:r>
            <a:r>
              <a:rPr lang="en-IN" dirty="0" err="1">
                <a:latin typeface="Calibri" panose="020F0502020204030204" pitchFamily="34" charset="0"/>
                <a:ea typeface="Calibri" panose="020F0502020204030204" pitchFamily="34" charset="0"/>
                <a:cs typeface="Calibri" panose="020F0502020204030204" pitchFamily="34" charset="0"/>
              </a:rPr>
              <a:t>df.isnull</a:t>
            </a:r>
            <a:r>
              <a:rPr lang="en-IN" dirty="0">
                <a:latin typeface="Calibri" panose="020F0502020204030204" pitchFamily="34" charset="0"/>
                <a:ea typeface="Calibri" panose="020F0502020204030204" pitchFamily="34" charset="0"/>
                <a:cs typeface="Calibri" panose="020F0502020204030204" pitchFamily="34" charset="0"/>
              </a:rPr>
              <a:t>().sum())</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 Filling missing numerical values (like pH or Turbidity) with the mean</a:t>
            </a:r>
          </a:p>
          <a:p>
            <a:pPr marL="0" indent="0">
              <a:buNone/>
            </a:pPr>
            <a:r>
              <a:rPr lang="en-IN" dirty="0" err="1">
                <a:latin typeface="Calibri" panose="020F0502020204030204" pitchFamily="34" charset="0"/>
                <a:ea typeface="Calibri" panose="020F0502020204030204" pitchFamily="34" charset="0"/>
                <a:cs typeface="Calibri" panose="020F0502020204030204" pitchFamily="34" charset="0"/>
              </a:rPr>
              <a:t>df</a:t>
            </a:r>
            <a:r>
              <a:rPr lang="en-IN" dirty="0">
                <a:latin typeface="Calibri" panose="020F0502020204030204" pitchFamily="34" charset="0"/>
                <a:ea typeface="Calibri" panose="020F0502020204030204" pitchFamily="34" charset="0"/>
                <a:cs typeface="Calibri" panose="020F0502020204030204" pitchFamily="34" charset="0"/>
              </a:rPr>
              <a:t>['</a:t>
            </a:r>
            <a:r>
              <a:rPr lang="en-IN" dirty="0" err="1">
                <a:latin typeface="Calibri" panose="020F0502020204030204" pitchFamily="34" charset="0"/>
                <a:ea typeface="Calibri" panose="020F0502020204030204" pitchFamily="34" charset="0"/>
                <a:cs typeface="Calibri" panose="020F0502020204030204" pitchFamily="34" charset="0"/>
              </a:rPr>
              <a:t>pH_Level</a:t>
            </a:r>
            <a:r>
              <a:rPr lang="en-IN" dirty="0">
                <a:latin typeface="Calibri" panose="020F0502020204030204" pitchFamily="34" charset="0"/>
                <a:ea typeface="Calibri" panose="020F0502020204030204" pitchFamily="34" charset="0"/>
                <a:cs typeface="Calibri" panose="020F0502020204030204" pitchFamily="34" charset="0"/>
              </a:rPr>
              <a:t>'] = </a:t>
            </a:r>
            <a:r>
              <a:rPr lang="en-IN" dirty="0" err="1">
                <a:latin typeface="Calibri" panose="020F0502020204030204" pitchFamily="34" charset="0"/>
                <a:ea typeface="Calibri" panose="020F0502020204030204" pitchFamily="34" charset="0"/>
                <a:cs typeface="Calibri" panose="020F0502020204030204" pitchFamily="34" charset="0"/>
              </a:rPr>
              <a:t>df</a:t>
            </a:r>
            <a:r>
              <a:rPr lang="en-IN" dirty="0">
                <a:latin typeface="Calibri" panose="020F0502020204030204" pitchFamily="34" charset="0"/>
                <a:ea typeface="Calibri" panose="020F0502020204030204" pitchFamily="34" charset="0"/>
                <a:cs typeface="Calibri" panose="020F0502020204030204" pitchFamily="34" charset="0"/>
              </a:rPr>
              <a:t>['</a:t>
            </a:r>
            <a:r>
              <a:rPr lang="en-IN" dirty="0" err="1">
                <a:latin typeface="Calibri" panose="020F0502020204030204" pitchFamily="34" charset="0"/>
                <a:ea typeface="Calibri" panose="020F0502020204030204" pitchFamily="34" charset="0"/>
                <a:cs typeface="Calibri" panose="020F0502020204030204" pitchFamily="34" charset="0"/>
              </a:rPr>
              <a:t>pH_Level</a:t>
            </a:r>
            <a:r>
              <a:rPr lang="en-IN" dirty="0">
                <a:latin typeface="Calibri" panose="020F0502020204030204" pitchFamily="34" charset="0"/>
                <a:ea typeface="Calibri" panose="020F0502020204030204" pitchFamily="34" charset="0"/>
                <a:cs typeface="Calibri" panose="020F0502020204030204" pitchFamily="34" charset="0"/>
              </a:rPr>
              <a:t>'].</a:t>
            </a:r>
            <a:r>
              <a:rPr lang="en-IN" dirty="0" err="1">
                <a:latin typeface="Calibri" panose="020F0502020204030204" pitchFamily="34" charset="0"/>
                <a:ea typeface="Calibri" panose="020F0502020204030204" pitchFamily="34" charset="0"/>
                <a:cs typeface="Calibri" panose="020F0502020204030204" pitchFamily="34" charset="0"/>
              </a:rPr>
              <a:t>fillna</a:t>
            </a:r>
            <a:r>
              <a:rPr lang="en-IN" dirty="0">
                <a:latin typeface="Calibri" panose="020F0502020204030204" pitchFamily="34" charset="0"/>
                <a:ea typeface="Calibri" panose="020F0502020204030204" pitchFamily="34" charset="0"/>
                <a:cs typeface="Calibri" panose="020F0502020204030204" pitchFamily="34" charset="0"/>
              </a:rPr>
              <a:t>(</a:t>
            </a:r>
            <a:r>
              <a:rPr lang="en-IN" dirty="0" err="1">
                <a:latin typeface="Calibri" panose="020F0502020204030204" pitchFamily="34" charset="0"/>
                <a:ea typeface="Calibri" panose="020F0502020204030204" pitchFamily="34" charset="0"/>
                <a:cs typeface="Calibri" panose="020F0502020204030204" pitchFamily="34" charset="0"/>
              </a:rPr>
              <a:t>df</a:t>
            </a:r>
            <a:r>
              <a:rPr lang="en-IN" dirty="0">
                <a:latin typeface="Calibri" panose="020F0502020204030204" pitchFamily="34" charset="0"/>
                <a:ea typeface="Calibri" panose="020F0502020204030204" pitchFamily="34" charset="0"/>
                <a:cs typeface="Calibri" panose="020F0502020204030204" pitchFamily="34" charset="0"/>
              </a:rPr>
              <a:t>['</a:t>
            </a:r>
            <a:r>
              <a:rPr lang="en-IN" dirty="0" err="1">
                <a:latin typeface="Calibri" panose="020F0502020204030204" pitchFamily="34" charset="0"/>
                <a:ea typeface="Calibri" panose="020F0502020204030204" pitchFamily="34" charset="0"/>
                <a:cs typeface="Calibri" panose="020F0502020204030204" pitchFamily="34" charset="0"/>
              </a:rPr>
              <a:t>pH_Level</a:t>
            </a:r>
            <a:r>
              <a:rPr lang="en-IN" dirty="0">
                <a:latin typeface="Calibri" panose="020F0502020204030204" pitchFamily="34" charset="0"/>
                <a:ea typeface="Calibri" panose="020F0502020204030204" pitchFamily="34" charset="0"/>
                <a:cs typeface="Calibri" panose="020F0502020204030204" pitchFamily="34" charset="0"/>
              </a:rPr>
              <a:t>'].mean())</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 Dropping rows where critical data is missing</a:t>
            </a:r>
          </a:p>
          <a:p>
            <a:pPr marL="0" indent="0">
              <a:buNone/>
            </a:pPr>
            <a:r>
              <a:rPr lang="en-IN" dirty="0" err="1">
                <a:latin typeface="Calibri" panose="020F0502020204030204" pitchFamily="34" charset="0"/>
                <a:ea typeface="Calibri" panose="020F0502020204030204" pitchFamily="34" charset="0"/>
                <a:cs typeface="Calibri" panose="020F0502020204030204" pitchFamily="34" charset="0"/>
              </a:rPr>
              <a:t>df.dropna</a:t>
            </a:r>
            <a:r>
              <a:rPr lang="en-IN" dirty="0">
                <a:latin typeface="Calibri" panose="020F0502020204030204" pitchFamily="34" charset="0"/>
                <a:ea typeface="Calibri" panose="020F0502020204030204" pitchFamily="34" charset="0"/>
                <a:cs typeface="Calibri" panose="020F0502020204030204" pitchFamily="34" charset="0"/>
              </a:rPr>
              <a:t>(subset=['</a:t>
            </a:r>
            <a:r>
              <a:rPr lang="en-IN" dirty="0" err="1">
                <a:latin typeface="Calibri" panose="020F0502020204030204" pitchFamily="34" charset="0"/>
                <a:ea typeface="Calibri" panose="020F0502020204030204" pitchFamily="34" charset="0"/>
                <a:cs typeface="Calibri" panose="020F0502020204030204" pitchFamily="34" charset="0"/>
              </a:rPr>
              <a:t>Contaminant_Type</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err="1">
                <a:latin typeface="Calibri" panose="020F0502020204030204" pitchFamily="34" charset="0"/>
                <a:ea typeface="Calibri" panose="020F0502020204030204" pitchFamily="34" charset="0"/>
                <a:cs typeface="Calibri" panose="020F0502020204030204" pitchFamily="34" charset="0"/>
              </a:rPr>
              <a:t>inplace</a:t>
            </a:r>
            <a:r>
              <a:rPr lang="en-IN" dirty="0">
                <a:latin typeface="Calibri" panose="020F0502020204030204" pitchFamily="34" charset="0"/>
                <a:ea typeface="Calibri" panose="020F0502020204030204" pitchFamily="34" charset="0"/>
                <a:cs typeface="Calibri" panose="020F0502020204030204" pitchFamily="34" charset="0"/>
              </a:rPr>
              <a:t>=True)</a:t>
            </a:r>
          </a:p>
          <a:p>
            <a:r>
              <a:rPr lang="en-US" b="1" dirty="0">
                <a:latin typeface="Calibri" panose="020F0502020204030204" pitchFamily="34" charset="0"/>
                <a:ea typeface="Calibri" panose="020F0502020204030204" pitchFamily="34" charset="0"/>
                <a:cs typeface="Calibri" panose="020F0502020204030204" pitchFamily="34" charset="0"/>
              </a:rPr>
              <a:t>Removing Duplicates:</a:t>
            </a:r>
            <a:r>
              <a:rPr lang="en-US" dirty="0">
                <a:latin typeface="Calibri" panose="020F0502020204030204" pitchFamily="34" charset="0"/>
                <a:ea typeface="Calibri" panose="020F0502020204030204" pitchFamily="34" charset="0"/>
                <a:cs typeface="Calibri" panose="020F0502020204030204" pitchFamily="34" charset="0"/>
              </a:rPr>
              <a:t> Scanned the dataset for redundant water sample records to ensure that specific pollution incidents weren't over-counted.</a:t>
            </a:r>
            <a:endParaRP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i="1" dirty="0">
                <a:latin typeface="Calibri" panose="020F0502020204030204" pitchFamily="34" charset="0"/>
                <a:ea typeface="Calibri" panose="020F0502020204030204" pitchFamily="34" charset="0"/>
                <a:cs typeface="Calibri" panose="020F0502020204030204" pitchFamily="34" charset="0"/>
              </a:rPr>
              <a:t># Check for duplicate rows</a:t>
            </a:r>
          </a:p>
          <a:p>
            <a:pPr marL="0" indent="0">
              <a:buNone/>
            </a:pPr>
            <a:r>
              <a:rPr lang="en-US" i="1" dirty="0">
                <a:latin typeface="Calibri" panose="020F0502020204030204" pitchFamily="34" charset="0"/>
                <a:ea typeface="Calibri" panose="020F0502020204030204" pitchFamily="34" charset="0"/>
                <a:cs typeface="Calibri" panose="020F0502020204030204" pitchFamily="34" charset="0"/>
              </a:rPr>
              <a:t>print(</a:t>
            </a:r>
            <a:r>
              <a:rPr lang="en-US" i="1" dirty="0" err="1">
                <a:latin typeface="Calibri" panose="020F0502020204030204" pitchFamily="34" charset="0"/>
                <a:ea typeface="Calibri" panose="020F0502020204030204" pitchFamily="34" charset="0"/>
                <a:cs typeface="Calibri" panose="020F0502020204030204" pitchFamily="34" charset="0"/>
              </a:rPr>
              <a:t>df.duplicated</a:t>
            </a:r>
            <a:r>
              <a:rPr lang="en-US" i="1" dirty="0">
                <a:latin typeface="Calibri" panose="020F0502020204030204" pitchFamily="34" charset="0"/>
                <a:ea typeface="Calibri" panose="020F0502020204030204" pitchFamily="34" charset="0"/>
                <a:cs typeface="Calibri" panose="020F0502020204030204" pitchFamily="34" charset="0"/>
              </a:rPr>
              <a:t>().sum())</a:t>
            </a:r>
          </a:p>
          <a:p>
            <a:pPr marL="0" indent="0">
              <a:buNone/>
            </a:pPr>
            <a:r>
              <a:rPr lang="en-US" i="1" dirty="0">
                <a:latin typeface="Calibri" panose="020F0502020204030204" pitchFamily="34" charset="0"/>
                <a:ea typeface="Calibri" panose="020F0502020204030204" pitchFamily="34" charset="0"/>
                <a:cs typeface="Calibri" panose="020F0502020204030204" pitchFamily="34" charset="0"/>
              </a:rPr>
              <a:t># Remove duplicate entries</a:t>
            </a:r>
          </a:p>
          <a:p>
            <a:pPr marL="0" indent="0">
              <a:buNone/>
            </a:pPr>
            <a:r>
              <a:rPr lang="en-US" i="1" dirty="0" err="1">
                <a:latin typeface="Calibri" panose="020F0502020204030204" pitchFamily="34" charset="0"/>
                <a:ea typeface="Calibri" panose="020F0502020204030204" pitchFamily="34" charset="0"/>
                <a:cs typeface="Calibri" panose="020F0502020204030204" pitchFamily="34" charset="0"/>
              </a:rPr>
              <a:t>df.drop_duplicates</a:t>
            </a:r>
            <a:r>
              <a:rPr lang="en-US" i="1" dirty="0">
                <a:latin typeface="Calibri" panose="020F0502020204030204" pitchFamily="34" charset="0"/>
                <a:ea typeface="Calibri" panose="020F0502020204030204" pitchFamily="34" charset="0"/>
                <a:cs typeface="Calibri" panose="020F0502020204030204" pitchFamily="34" charset="0"/>
              </a:rPr>
              <a:t>(</a:t>
            </a:r>
            <a:r>
              <a:rPr lang="en-US" i="1" dirty="0" err="1">
                <a:latin typeface="Calibri" panose="020F0502020204030204" pitchFamily="34" charset="0"/>
                <a:ea typeface="Calibri" panose="020F0502020204030204" pitchFamily="34" charset="0"/>
                <a:cs typeface="Calibri" panose="020F0502020204030204" pitchFamily="34" charset="0"/>
              </a:rPr>
              <a:t>inplace</a:t>
            </a:r>
            <a:r>
              <a:rPr lang="en-US" i="1" dirty="0">
                <a:latin typeface="Calibri" panose="020F0502020204030204" pitchFamily="34" charset="0"/>
                <a:ea typeface="Calibri" panose="020F0502020204030204" pitchFamily="34" charset="0"/>
                <a:cs typeface="Calibri" panose="020F0502020204030204" pitchFamily="34" charset="0"/>
              </a:rPr>
              <a:t>=True)</a:t>
            </a:r>
          </a:p>
          <a:p>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5A122-2F64-0119-1B4E-0324E2E54E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09EC7B-5260-A749-F7B7-98329B987E4B}"/>
              </a:ext>
            </a:extLst>
          </p:cNvPr>
          <p:cNvSpPr>
            <a:spLocks noGrp="1"/>
          </p:cNvSpPr>
          <p:nvPr>
            <p:ph idx="1"/>
          </p:nvPr>
        </p:nvSpPr>
        <p:spPr>
          <a:xfrm>
            <a:off x="603384" y="1030020"/>
            <a:ext cx="7899488" cy="4750676"/>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Standardizing Formats:</a:t>
            </a:r>
            <a:r>
              <a:rPr lang="en-US" sz="2000" dirty="0">
                <a:latin typeface="Calibri" panose="020F0502020204030204" pitchFamily="34" charset="0"/>
                <a:ea typeface="Calibri" panose="020F0502020204030204" pitchFamily="34" charset="0"/>
                <a:cs typeface="Calibri" panose="020F0502020204030204" pitchFamily="34" charset="0"/>
              </a:rPr>
              <a:t> Ensured consistent naming conventions for regions and water sources.</a:t>
            </a:r>
          </a:p>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 Standardizing string formats to lowercase or title case</a:t>
            </a:r>
          </a:p>
          <a:p>
            <a:pPr marL="0" indent="0">
              <a:buNone/>
            </a:pPr>
            <a:r>
              <a:rPr lang="en-US" sz="2000" dirty="0" err="1">
                <a:latin typeface="Calibri" panose="020F0502020204030204" pitchFamily="34" charset="0"/>
                <a:ea typeface="Calibri" panose="020F0502020204030204" pitchFamily="34" charset="0"/>
                <a:cs typeface="Calibri" panose="020F0502020204030204" pitchFamily="34" charset="0"/>
              </a:rPr>
              <a:t>df</a:t>
            </a:r>
            <a:r>
              <a:rPr lang="en-US" sz="2000" dirty="0">
                <a:latin typeface="Calibri" panose="020F0502020204030204" pitchFamily="34" charset="0"/>
                <a:ea typeface="Calibri" panose="020F0502020204030204" pitchFamily="34" charset="0"/>
                <a:cs typeface="Calibri" panose="020F0502020204030204" pitchFamily="34" charset="0"/>
              </a:rPr>
              <a:t>['</a:t>
            </a:r>
            <a:r>
              <a:rPr lang="en-US" sz="2000" dirty="0" err="1">
                <a:latin typeface="Calibri" panose="020F0502020204030204" pitchFamily="34" charset="0"/>
                <a:ea typeface="Calibri" panose="020F0502020204030204" pitchFamily="34" charset="0"/>
                <a:cs typeface="Calibri" panose="020F0502020204030204" pitchFamily="34" charset="0"/>
              </a:rPr>
              <a:t>Water_Source</a:t>
            </a:r>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dirty="0" err="1">
                <a:latin typeface="Calibri" panose="020F0502020204030204" pitchFamily="34" charset="0"/>
                <a:ea typeface="Calibri" panose="020F0502020204030204" pitchFamily="34" charset="0"/>
                <a:cs typeface="Calibri" panose="020F0502020204030204" pitchFamily="34" charset="0"/>
              </a:rPr>
              <a:t>df</a:t>
            </a:r>
            <a:r>
              <a:rPr lang="en-US" sz="2000" dirty="0">
                <a:latin typeface="Calibri" panose="020F0502020204030204" pitchFamily="34" charset="0"/>
                <a:ea typeface="Calibri" panose="020F0502020204030204" pitchFamily="34" charset="0"/>
                <a:cs typeface="Calibri" panose="020F0502020204030204" pitchFamily="34" charset="0"/>
              </a:rPr>
              <a:t>['</a:t>
            </a:r>
            <a:r>
              <a:rPr lang="en-US" sz="2000" dirty="0" err="1">
                <a:latin typeface="Calibri" panose="020F0502020204030204" pitchFamily="34" charset="0"/>
                <a:ea typeface="Calibri" panose="020F0502020204030204" pitchFamily="34" charset="0"/>
                <a:cs typeface="Calibri" panose="020F0502020204030204" pitchFamily="34" charset="0"/>
              </a:rPr>
              <a:t>Water_Source</a:t>
            </a:r>
            <a:r>
              <a:rPr lang="en-US" sz="2000" dirty="0">
                <a:latin typeface="Calibri" panose="020F0502020204030204" pitchFamily="34" charset="0"/>
                <a:ea typeface="Calibri" panose="020F0502020204030204" pitchFamily="34" charset="0"/>
                <a:cs typeface="Calibri" panose="020F0502020204030204" pitchFamily="34" charset="0"/>
              </a:rPr>
              <a:t>'].</a:t>
            </a:r>
            <a:r>
              <a:rPr lang="en-US" sz="2000" dirty="0" err="1">
                <a:latin typeface="Calibri" panose="020F0502020204030204" pitchFamily="34" charset="0"/>
                <a:ea typeface="Calibri" panose="020F0502020204030204" pitchFamily="34" charset="0"/>
                <a:cs typeface="Calibri" panose="020F0502020204030204" pitchFamily="34" charset="0"/>
              </a:rPr>
              <a:t>str.strip</a:t>
            </a:r>
            <a:r>
              <a:rPr lang="en-US" sz="2000" dirty="0">
                <a:latin typeface="Calibri" panose="020F0502020204030204" pitchFamily="34" charset="0"/>
                <a:ea typeface="Calibri" panose="020F0502020204030204" pitchFamily="34" charset="0"/>
                <a:cs typeface="Calibri" panose="020F0502020204030204" pitchFamily="34" charset="0"/>
              </a:rPr>
              <a:t>().</a:t>
            </a:r>
            <a:r>
              <a:rPr lang="en-US" sz="2000" dirty="0" err="1">
                <a:latin typeface="Calibri" panose="020F0502020204030204" pitchFamily="34" charset="0"/>
                <a:ea typeface="Calibri" panose="020F0502020204030204" pitchFamily="34" charset="0"/>
                <a:cs typeface="Calibri" panose="020F0502020204030204" pitchFamily="34" charset="0"/>
              </a:rPr>
              <a:t>str.title</a:t>
            </a:r>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b="1" dirty="0">
                <a:latin typeface="Calibri" panose="020F0502020204030204" pitchFamily="34" charset="0"/>
                <a:ea typeface="Calibri" panose="020F0502020204030204" pitchFamily="34" charset="0"/>
                <a:cs typeface="Calibri" panose="020F0502020204030204" pitchFamily="34" charset="0"/>
              </a:rPr>
              <a:t>Data Type Conversion:</a:t>
            </a:r>
            <a:r>
              <a:rPr lang="en-US" sz="2000" dirty="0">
                <a:latin typeface="Calibri" panose="020F0502020204030204" pitchFamily="34" charset="0"/>
                <a:ea typeface="Calibri" panose="020F0502020204030204" pitchFamily="34" charset="0"/>
                <a:cs typeface="Calibri" panose="020F0502020204030204" pitchFamily="34" charset="0"/>
              </a:rPr>
              <a:t> Verified that numerical columns (like Turbidity and Rainfall) were correctly formatted as floats/integers for mathematical analysis.</a:t>
            </a:r>
          </a:p>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 Converting columns to numeric, forcing errors to </a:t>
            </a:r>
            <a:r>
              <a:rPr lang="en-US" sz="2000" dirty="0" err="1">
                <a:latin typeface="Calibri" panose="020F0502020204030204" pitchFamily="34" charset="0"/>
                <a:ea typeface="Calibri" panose="020F0502020204030204" pitchFamily="34" charset="0"/>
                <a:cs typeface="Calibri" panose="020F0502020204030204" pitchFamily="34" charset="0"/>
              </a:rPr>
              <a:t>NaN</a:t>
            </a:r>
            <a:r>
              <a:rPr lang="en-US" sz="2000" dirty="0">
                <a:latin typeface="Calibri" panose="020F0502020204030204" pitchFamily="34" charset="0"/>
                <a:ea typeface="Calibri" panose="020F0502020204030204" pitchFamily="34" charset="0"/>
                <a:cs typeface="Calibri" panose="020F0502020204030204" pitchFamily="34" charset="0"/>
              </a:rPr>
              <a:t> to handle "messy" strings</a:t>
            </a:r>
          </a:p>
          <a:p>
            <a:pPr marL="0" indent="0">
              <a:buNone/>
            </a:pPr>
            <a:r>
              <a:rPr lang="en-US" sz="2000" dirty="0" err="1">
                <a:latin typeface="Calibri" panose="020F0502020204030204" pitchFamily="34" charset="0"/>
                <a:ea typeface="Calibri" panose="020F0502020204030204" pitchFamily="34" charset="0"/>
                <a:cs typeface="Calibri" panose="020F0502020204030204" pitchFamily="34" charset="0"/>
              </a:rPr>
              <a:t>df</a:t>
            </a:r>
            <a:r>
              <a:rPr lang="en-US" sz="2000" dirty="0">
                <a:latin typeface="Calibri" panose="020F0502020204030204" pitchFamily="34" charset="0"/>
                <a:ea typeface="Calibri" panose="020F0502020204030204" pitchFamily="34" charset="0"/>
                <a:cs typeface="Calibri" panose="020F0502020204030204" pitchFamily="34" charset="0"/>
              </a:rPr>
              <a:t>['</a:t>
            </a:r>
            <a:r>
              <a:rPr lang="en-US" sz="2000" dirty="0" err="1">
                <a:latin typeface="Calibri" panose="020F0502020204030204" pitchFamily="34" charset="0"/>
                <a:ea typeface="Calibri" panose="020F0502020204030204" pitchFamily="34" charset="0"/>
                <a:cs typeface="Calibri" panose="020F0502020204030204" pitchFamily="34" charset="0"/>
              </a:rPr>
              <a:t>Turbidity_Level</a:t>
            </a:r>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dirty="0" err="1">
                <a:latin typeface="Calibri" panose="020F0502020204030204" pitchFamily="34" charset="0"/>
                <a:ea typeface="Calibri" panose="020F0502020204030204" pitchFamily="34" charset="0"/>
                <a:cs typeface="Calibri" panose="020F0502020204030204" pitchFamily="34" charset="0"/>
              </a:rPr>
              <a:t>pd.to_numeric</a:t>
            </a:r>
            <a:r>
              <a:rPr lang="en-US" sz="2000" dirty="0">
                <a:latin typeface="Calibri" panose="020F0502020204030204" pitchFamily="34" charset="0"/>
                <a:ea typeface="Calibri" panose="020F0502020204030204" pitchFamily="34" charset="0"/>
                <a:cs typeface="Calibri" panose="020F0502020204030204" pitchFamily="34" charset="0"/>
              </a:rPr>
              <a:t>(</a:t>
            </a:r>
            <a:r>
              <a:rPr lang="en-US" sz="2000" dirty="0" err="1">
                <a:latin typeface="Calibri" panose="020F0502020204030204" pitchFamily="34" charset="0"/>
                <a:ea typeface="Calibri" panose="020F0502020204030204" pitchFamily="34" charset="0"/>
                <a:cs typeface="Calibri" panose="020F0502020204030204" pitchFamily="34" charset="0"/>
              </a:rPr>
              <a:t>df</a:t>
            </a:r>
            <a:r>
              <a:rPr lang="en-US" sz="2000" dirty="0">
                <a:latin typeface="Calibri" panose="020F0502020204030204" pitchFamily="34" charset="0"/>
                <a:ea typeface="Calibri" panose="020F0502020204030204" pitchFamily="34" charset="0"/>
                <a:cs typeface="Calibri" panose="020F0502020204030204" pitchFamily="34" charset="0"/>
              </a:rPr>
              <a:t>['</a:t>
            </a:r>
            <a:r>
              <a:rPr lang="en-US" sz="2000" dirty="0" err="1">
                <a:latin typeface="Calibri" panose="020F0502020204030204" pitchFamily="34" charset="0"/>
                <a:ea typeface="Calibri" panose="020F0502020204030204" pitchFamily="34" charset="0"/>
                <a:cs typeface="Calibri" panose="020F0502020204030204" pitchFamily="34" charset="0"/>
              </a:rPr>
              <a:t>Turbidity_Level</a:t>
            </a:r>
            <a:r>
              <a:rPr lang="en-US" sz="2000" dirty="0">
                <a:latin typeface="Calibri" panose="020F0502020204030204" pitchFamily="34" charset="0"/>
                <a:ea typeface="Calibri" panose="020F0502020204030204" pitchFamily="34" charset="0"/>
                <a:cs typeface="Calibri" panose="020F0502020204030204" pitchFamily="34" charset="0"/>
              </a:rPr>
              <a:t>'], errors='coerce')</a:t>
            </a:r>
          </a:p>
        </p:txBody>
      </p:sp>
    </p:spTree>
    <p:extLst>
      <p:ext uri="{BB962C8B-B14F-4D97-AF65-F5344CB8AC3E}">
        <p14:creationId xmlns:p14="http://schemas.microsoft.com/office/powerpoint/2010/main" val="1098102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45B0A-F4BD-6AA6-EC73-7BA31BBCC0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F39474-13A8-5D1A-9CE6-069F95C45B96}"/>
              </a:ext>
            </a:extLst>
          </p:cNvPr>
          <p:cNvSpPr>
            <a:spLocks noGrp="1"/>
          </p:cNvSpPr>
          <p:nvPr>
            <p:ph idx="1"/>
          </p:nvPr>
        </p:nvSpPr>
        <p:spPr>
          <a:xfrm>
            <a:off x="582362" y="472966"/>
            <a:ext cx="8382961" cy="6285185"/>
          </a:xfrm>
        </p:spPr>
        <p:txBody>
          <a:bodyPr>
            <a:normAutofit fontScale="92500" lnSpcReduction="20000"/>
          </a:bodyPr>
          <a:lstStyle/>
          <a:p>
            <a:r>
              <a:rPr lang="en-US" sz="1900" b="1" dirty="0">
                <a:latin typeface="Calibri" panose="020F0502020204030204" pitchFamily="34" charset="0"/>
                <a:ea typeface="Calibri" panose="020F0502020204030204" pitchFamily="34" charset="0"/>
                <a:cs typeface="Calibri" panose="020F0502020204030204" pitchFamily="34" charset="0"/>
              </a:rPr>
              <a:t>Outlier Detection:</a:t>
            </a:r>
            <a:r>
              <a:rPr lang="en-US" sz="1900" dirty="0">
                <a:latin typeface="Calibri" panose="020F0502020204030204" pitchFamily="34" charset="0"/>
                <a:ea typeface="Calibri" panose="020F0502020204030204" pitchFamily="34" charset="0"/>
                <a:cs typeface="Calibri" panose="020F0502020204030204" pitchFamily="34" charset="0"/>
              </a:rPr>
              <a:t> Inspected extreme values in pollution metrics to determine if they were genuine contamination spikes or data entry errors.</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 Finding outliers using IQR</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Q1 = </a:t>
            </a:r>
            <a:r>
              <a:rPr lang="en-US" sz="1900" dirty="0" err="1">
                <a:latin typeface="Calibri" panose="020F0502020204030204" pitchFamily="34" charset="0"/>
                <a:ea typeface="Calibri" panose="020F0502020204030204" pitchFamily="34" charset="0"/>
                <a:cs typeface="Calibri" panose="020F0502020204030204" pitchFamily="34" charset="0"/>
              </a:rPr>
              <a:t>df</a:t>
            </a:r>
            <a:r>
              <a:rPr lang="en-US" sz="1900" dirty="0">
                <a:latin typeface="Calibri" panose="020F0502020204030204" pitchFamily="34" charset="0"/>
                <a:ea typeface="Calibri" panose="020F0502020204030204" pitchFamily="34" charset="0"/>
                <a:cs typeface="Calibri" panose="020F0502020204030204" pitchFamily="34" charset="0"/>
              </a:rPr>
              <a:t>['</a:t>
            </a:r>
            <a:r>
              <a:rPr lang="en-US" sz="1900" dirty="0" err="1">
                <a:latin typeface="Calibri" panose="020F0502020204030204" pitchFamily="34" charset="0"/>
                <a:ea typeface="Calibri" panose="020F0502020204030204" pitchFamily="34" charset="0"/>
                <a:cs typeface="Calibri" panose="020F0502020204030204" pitchFamily="34" charset="0"/>
              </a:rPr>
              <a:t>Chemical_Concentration</a:t>
            </a:r>
            <a:r>
              <a:rPr lang="en-US" sz="1900" dirty="0">
                <a:latin typeface="Calibri" panose="020F0502020204030204" pitchFamily="34" charset="0"/>
                <a:ea typeface="Calibri" panose="020F0502020204030204" pitchFamily="34" charset="0"/>
                <a:cs typeface="Calibri" panose="020F0502020204030204" pitchFamily="34" charset="0"/>
              </a:rPr>
              <a:t>'].quantile(0.25)</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Q3 = </a:t>
            </a:r>
            <a:r>
              <a:rPr lang="en-US" sz="1900" dirty="0" err="1">
                <a:latin typeface="Calibri" panose="020F0502020204030204" pitchFamily="34" charset="0"/>
                <a:ea typeface="Calibri" panose="020F0502020204030204" pitchFamily="34" charset="0"/>
                <a:cs typeface="Calibri" panose="020F0502020204030204" pitchFamily="34" charset="0"/>
              </a:rPr>
              <a:t>df</a:t>
            </a:r>
            <a:r>
              <a:rPr lang="en-US" sz="1900" dirty="0">
                <a:latin typeface="Calibri" panose="020F0502020204030204" pitchFamily="34" charset="0"/>
                <a:ea typeface="Calibri" panose="020F0502020204030204" pitchFamily="34" charset="0"/>
                <a:cs typeface="Calibri" panose="020F0502020204030204" pitchFamily="34" charset="0"/>
              </a:rPr>
              <a:t>['</a:t>
            </a:r>
            <a:r>
              <a:rPr lang="en-US" sz="1900" dirty="0" err="1">
                <a:latin typeface="Calibri" panose="020F0502020204030204" pitchFamily="34" charset="0"/>
                <a:ea typeface="Calibri" panose="020F0502020204030204" pitchFamily="34" charset="0"/>
                <a:cs typeface="Calibri" panose="020F0502020204030204" pitchFamily="34" charset="0"/>
              </a:rPr>
              <a:t>Chemical_Concentration</a:t>
            </a:r>
            <a:r>
              <a:rPr lang="en-US" sz="1900" dirty="0">
                <a:latin typeface="Calibri" panose="020F0502020204030204" pitchFamily="34" charset="0"/>
                <a:ea typeface="Calibri" panose="020F0502020204030204" pitchFamily="34" charset="0"/>
                <a:cs typeface="Calibri" panose="020F0502020204030204" pitchFamily="34" charset="0"/>
              </a:rPr>
              <a:t>'].quantile(0.75)</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IQR = Q3 - Q1</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 Defining bounds</a:t>
            </a:r>
          </a:p>
          <a:p>
            <a:pPr marL="0" indent="0">
              <a:buNone/>
            </a:pPr>
            <a:r>
              <a:rPr lang="en-US" sz="1900" dirty="0" err="1">
                <a:latin typeface="Calibri" panose="020F0502020204030204" pitchFamily="34" charset="0"/>
                <a:ea typeface="Calibri" panose="020F0502020204030204" pitchFamily="34" charset="0"/>
                <a:cs typeface="Calibri" panose="020F0502020204030204" pitchFamily="34" charset="0"/>
              </a:rPr>
              <a:t>lower_bound</a:t>
            </a:r>
            <a:r>
              <a:rPr lang="en-US" sz="1900" dirty="0">
                <a:latin typeface="Calibri" panose="020F0502020204030204" pitchFamily="34" charset="0"/>
                <a:ea typeface="Calibri" panose="020F0502020204030204" pitchFamily="34" charset="0"/>
                <a:cs typeface="Calibri" panose="020F0502020204030204" pitchFamily="34" charset="0"/>
              </a:rPr>
              <a:t> = Q1 - 1.5 * IQR</a:t>
            </a:r>
          </a:p>
          <a:p>
            <a:pPr marL="0" indent="0">
              <a:buNone/>
            </a:pPr>
            <a:r>
              <a:rPr lang="en-US" sz="1900" dirty="0" err="1">
                <a:latin typeface="Calibri" panose="020F0502020204030204" pitchFamily="34" charset="0"/>
                <a:ea typeface="Calibri" panose="020F0502020204030204" pitchFamily="34" charset="0"/>
                <a:cs typeface="Calibri" panose="020F0502020204030204" pitchFamily="34" charset="0"/>
              </a:rPr>
              <a:t>upper_bound</a:t>
            </a:r>
            <a:r>
              <a:rPr lang="en-US" sz="1900" dirty="0">
                <a:latin typeface="Calibri" panose="020F0502020204030204" pitchFamily="34" charset="0"/>
                <a:ea typeface="Calibri" panose="020F0502020204030204" pitchFamily="34" charset="0"/>
                <a:cs typeface="Calibri" panose="020F0502020204030204" pitchFamily="34" charset="0"/>
              </a:rPr>
              <a:t> = Q3 + 1.5 * IQR</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 Filtering the data</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outliers = </a:t>
            </a:r>
            <a:r>
              <a:rPr lang="en-US" sz="1900" dirty="0" err="1">
                <a:latin typeface="Calibri" panose="020F0502020204030204" pitchFamily="34" charset="0"/>
                <a:ea typeface="Calibri" panose="020F0502020204030204" pitchFamily="34" charset="0"/>
                <a:cs typeface="Calibri" panose="020F0502020204030204" pitchFamily="34" charset="0"/>
              </a:rPr>
              <a:t>df</a:t>
            </a:r>
            <a:r>
              <a:rPr lang="en-US" sz="1900" dirty="0">
                <a:latin typeface="Calibri" panose="020F0502020204030204" pitchFamily="34" charset="0"/>
                <a:ea typeface="Calibri" panose="020F0502020204030204" pitchFamily="34" charset="0"/>
                <a:cs typeface="Calibri" panose="020F0502020204030204" pitchFamily="34" charset="0"/>
              </a:rPr>
              <a:t>[(</a:t>
            </a:r>
            <a:r>
              <a:rPr lang="en-US" sz="1900" dirty="0" err="1">
                <a:latin typeface="Calibri" panose="020F0502020204030204" pitchFamily="34" charset="0"/>
                <a:ea typeface="Calibri" panose="020F0502020204030204" pitchFamily="34" charset="0"/>
                <a:cs typeface="Calibri" panose="020F0502020204030204" pitchFamily="34" charset="0"/>
              </a:rPr>
              <a:t>df</a:t>
            </a:r>
            <a:r>
              <a:rPr lang="en-US" sz="1900" dirty="0">
                <a:latin typeface="Calibri" panose="020F0502020204030204" pitchFamily="34" charset="0"/>
                <a:ea typeface="Calibri" panose="020F0502020204030204" pitchFamily="34" charset="0"/>
                <a:cs typeface="Calibri" panose="020F0502020204030204" pitchFamily="34" charset="0"/>
              </a:rPr>
              <a:t>['</a:t>
            </a:r>
            <a:r>
              <a:rPr lang="en-US" sz="1900" dirty="0" err="1">
                <a:latin typeface="Calibri" panose="020F0502020204030204" pitchFamily="34" charset="0"/>
                <a:ea typeface="Calibri" panose="020F0502020204030204" pitchFamily="34" charset="0"/>
                <a:cs typeface="Calibri" panose="020F0502020204030204" pitchFamily="34" charset="0"/>
              </a:rPr>
              <a:t>Chemical_Concentration</a:t>
            </a:r>
            <a:r>
              <a:rPr lang="en-US" sz="1900" dirty="0">
                <a:latin typeface="Calibri" panose="020F0502020204030204" pitchFamily="34" charset="0"/>
                <a:ea typeface="Calibri" panose="020F0502020204030204" pitchFamily="34" charset="0"/>
                <a:cs typeface="Calibri" panose="020F0502020204030204" pitchFamily="34" charset="0"/>
              </a:rPr>
              <a:t>'] &lt; </a:t>
            </a:r>
            <a:r>
              <a:rPr lang="en-US" sz="1900" dirty="0" err="1">
                <a:latin typeface="Calibri" panose="020F0502020204030204" pitchFamily="34" charset="0"/>
                <a:ea typeface="Calibri" panose="020F0502020204030204" pitchFamily="34" charset="0"/>
                <a:cs typeface="Calibri" panose="020F0502020204030204" pitchFamily="34" charset="0"/>
              </a:rPr>
              <a:t>lower_bound</a:t>
            </a:r>
            <a:r>
              <a:rPr lang="en-US" sz="1900" dirty="0">
                <a:latin typeface="Calibri" panose="020F0502020204030204" pitchFamily="34" charset="0"/>
                <a:ea typeface="Calibri" panose="020F0502020204030204" pitchFamily="34" charset="0"/>
                <a:cs typeface="Calibri" panose="020F0502020204030204" pitchFamily="34" charset="0"/>
              </a:rPr>
              <a:t>) | (</a:t>
            </a:r>
            <a:r>
              <a:rPr lang="en-US" sz="1900" dirty="0" err="1">
                <a:latin typeface="Calibri" panose="020F0502020204030204" pitchFamily="34" charset="0"/>
                <a:ea typeface="Calibri" panose="020F0502020204030204" pitchFamily="34" charset="0"/>
                <a:cs typeface="Calibri" panose="020F0502020204030204" pitchFamily="34" charset="0"/>
              </a:rPr>
              <a:t>df</a:t>
            </a:r>
            <a:r>
              <a:rPr lang="en-US" sz="1900" dirty="0">
                <a:latin typeface="Calibri" panose="020F0502020204030204" pitchFamily="34" charset="0"/>
                <a:ea typeface="Calibri" panose="020F0502020204030204" pitchFamily="34" charset="0"/>
                <a:cs typeface="Calibri" panose="020F0502020204030204" pitchFamily="34" charset="0"/>
              </a:rPr>
              <a:t>['</a:t>
            </a:r>
            <a:r>
              <a:rPr lang="en-US" sz="1900" dirty="0" err="1">
                <a:latin typeface="Calibri" panose="020F0502020204030204" pitchFamily="34" charset="0"/>
                <a:ea typeface="Calibri" panose="020F0502020204030204" pitchFamily="34" charset="0"/>
                <a:cs typeface="Calibri" panose="020F0502020204030204" pitchFamily="34" charset="0"/>
              </a:rPr>
              <a:t>Chemical_Concentration</a:t>
            </a:r>
            <a:r>
              <a:rPr lang="en-US" sz="1900" dirty="0">
                <a:latin typeface="Calibri" panose="020F0502020204030204" pitchFamily="34" charset="0"/>
                <a:ea typeface="Calibri" panose="020F0502020204030204" pitchFamily="34" charset="0"/>
                <a:cs typeface="Calibri" panose="020F0502020204030204" pitchFamily="34" charset="0"/>
              </a:rPr>
              <a:t>'] &gt; </a:t>
            </a:r>
            <a:r>
              <a:rPr lang="en-US" sz="1900" dirty="0" err="1">
                <a:latin typeface="Calibri" panose="020F0502020204030204" pitchFamily="34" charset="0"/>
                <a:ea typeface="Calibri" panose="020F0502020204030204" pitchFamily="34" charset="0"/>
                <a:cs typeface="Calibri" panose="020F0502020204030204" pitchFamily="34" charset="0"/>
              </a:rPr>
              <a:t>upper_bound</a:t>
            </a:r>
            <a:r>
              <a:rPr lang="en-US" sz="1900" dirty="0">
                <a:latin typeface="Calibri" panose="020F0502020204030204" pitchFamily="34" charset="0"/>
                <a:ea typeface="Calibri" panose="020F0502020204030204" pitchFamily="34" charset="0"/>
                <a:cs typeface="Calibri" panose="020F0502020204030204" pitchFamily="34" charset="0"/>
              </a:rPr>
              <a:t>)]</a:t>
            </a:r>
          </a:p>
          <a:p>
            <a:r>
              <a:rPr lang="en-US" sz="1900" b="1" dirty="0">
                <a:latin typeface="Calibri" panose="020F0502020204030204" pitchFamily="34" charset="0"/>
                <a:ea typeface="Calibri" panose="020F0502020204030204" pitchFamily="34" charset="0"/>
                <a:cs typeface="Calibri" panose="020F0502020204030204" pitchFamily="34" charset="0"/>
              </a:rPr>
              <a:t>Column Renaming:</a:t>
            </a:r>
            <a:r>
              <a:rPr lang="en-US" sz="1900" dirty="0">
                <a:latin typeface="Calibri" panose="020F0502020204030204" pitchFamily="34" charset="0"/>
                <a:ea typeface="Calibri" panose="020F0502020204030204" pitchFamily="34" charset="0"/>
                <a:cs typeface="Calibri" panose="020F0502020204030204" pitchFamily="34" charset="0"/>
              </a:rPr>
              <a:t> Renamed complex or technical column headers to make them more readable.</a:t>
            </a:r>
          </a:p>
          <a:p>
            <a:pPr marL="0" indent="0">
              <a:buNone/>
            </a:pPr>
            <a:r>
              <a:rPr lang="en-US" sz="1900" dirty="0" err="1">
                <a:latin typeface="Calibri" panose="020F0502020204030204" pitchFamily="34" charset="0"/>
                <a:ea typeface="Calibri" panose="020F0502020204030204" pitchFamily="34" charset="0"/>
                <a:cs typeface="Calibri" panose="020F0502020204030204" pitchFamily="34" charset="0"/>
              </a:rPr>
              <a:t>df.rename</a:t>
            </a:r>
            <a:r>
              <a:rPr lang="en-US" sz="1900" dirty="0">
                <a:latin typeface="Calibri" panose="020F0502020204030204" pitchFamily="34" charset="0"/>
                <a:ea typeface="Calibri" panose="020F0502020204030204" pitchFamily="34" charset="0"/>
                <a:cs typeface="Calibri" panose="020F0502020204030204" pitchFamily="34" charset="0"/>
              </a:rPr>
              <a:t>(columns={</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'region_loc_01': 'Region',</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a:t>
            </a:r>
            <a:r>
              <a:rPr lang="en-US" sz="1900" dirty="0" err="1">
                <a:latin typeface="Calibri" panose="020F0502020204030204" pitchFamily="34" charset="0"/>
                <a:ea typeface="Calibri" panose="020F0502020204030204" pitchFamily="34" charset="0"/>
                <a:cs typeface="Calibri" panose="020F0502020204030204" pitchFamily="34" charset="0"/>
              </a:rPr>
              <a:t>temp_celsius</a:t>
            </a:r>
            <a:r>
              <a:rPr lang="en-US" sz="1900" dirty="0">
                <a:latin typeface="Calibri" panose="020F0502020204030204" pitchFamily="34" charset="0"/>
                <a:ea typeface="Calibri" panose="020F0502020204030204" pitchFamily="34" charset="0"/>
                <a:cs typeface="Calibri" panose="020F0502020204030204" pitchFamily="34" charset="0"/>
              </a:rPr>
              <a:t>': 'Temperature',</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a:t>
            </a:r>
            <a:r>
              <a:rPr lang="en-US" sz="1900" dirty="0" err="1">
                <a:latin typeface="Calibri" panose="020F0502020204030204" pitchFamily="34" charset="0"/>
                <a:ea typeface="Calibri" panose="020F0502020204030204" pitchFamily="34" charset="0"/>
                <a:cs typeface="Calibri" panose="020F0502020204030204" pitchFamily="34" charset="0"/>
              </a:rPr>
              <a:t>turb_ntu</a:t>
            </a:r>
            <a:r>
              <a:rPr lang="en-US" sz="1900" dirty="0">
                <a:latin typeface="Calibri" panose="020F0502020204030204" pitchFamily="34" charset="0"/>
                <a:ea typeface="Calibri" panose="020F0502020204030204" pitchFamily="34" charset="0"/>
                <a:cs typeface="Calibri" panose="020F0502020204030204" pitchFamily="34" charset="0"/>
              </a:rPr>
              <a:t>': 'Turbidity'</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 </a:t>
            </a:r>
            <a:r>
              <a:rPr lang="en-US" sz="1900" dirty="0" err="1">
                <a:latin typeface="Calibri" panose="020F0502020204030204" pitchFamily="34" charset="0"/>
                <a:ea typeface="Calibri" panose="020F0502020204030204" pitchFamily="34" charset="0"/>
                <a:cs typeface="Calibri" panose="020F0502020204030204" pitchFamily="34" charset="0"/>
              </a:rPr>
              <a:t>inplace</a:t>
            </a:r>
            <a:r>
              <a:rPr lang="en-US" sz="1900" dirty="0">
                <a:latin typeface="Calibri" panose="020F0502020204030204" pitchFamily="34" charset="0"/>
                <a:ea typeface="Calibri" panose="020F0502020204030204" pitchFamily="34" charset="0"/>
                <a:cs typeface="Calibri" panose="020F0502020204030204" pitchFamily="34" charset="0"/>
              </a:rPr>
              <a:t>=True)</a:t>
            </a:r>
          </a:p>
          <a:p>
            <a:endParaRPr lang="en-US" sz="19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25154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Bar Chart</a:t>
            </a:r>
          </a:p>
        </p:txBody>
      </p:sp>
      <p:sp>
        <p:nvSpPr>
          <p:cNvPr id="3" name="Content Placeholder 2"/>
          <p:cNvSpPr>
            <a:spLocks noGrp="1"/>
          </p:cNvSpPr>
          <p:nvPr>
            <p:ph idx="1"/>
          </p:nvPr>
        </p:nvSpPr>
        <p:spPr>
          <a:xfrm>
            <a:off x="1276007" y="1434353"/>
            <a:ext cx="7258393" cy="4975412"/>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Compares average contamination levels across regions.</a:t>
            </a:r>
          </a:p>
          <a:p>
            <a:r>
              <a:rPr lang="en-US" sz="2000" dirty="0">
                <a:latin typeface="Calibri" panose="020F0502020204030204" pitchFamily="34" charset="0"/>
                <a:ea typeface="Calibri" panose="020F0502020204030204" pitchFamily="34" charset="0"/>
                <a:cs typeface="Calibri" panose="020F0502020204030204" pitchFamily="34" charset="0"/>
              </a:rPr>
              <a:t>Identifies specific locations with high pollution spikes.</a:t>
            </a:r>
          </a:p>
          <a:p>
            <a:r>
              <a:rPr lang="en-US" sz="2000" dirty="0">
                <a:latin typeface="Calibri" panose="020F0502020204030204" pitchFamily="34" charset="0"/>
                <a:ea typeface="Calibri" panose="020F0502020204030204" pitchFamily="34" charset="0"/>
                <a:cs typeface="Calibri" panose="020F0502020204030204" pitchFamily="34" charset="0"/>
              </a:rPr>
              <a:t>Helps prioritize regional monitoring and intervention.</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959C4094-A584-5370-570A-80FDB6111DE1}"/>
              </a:ext>
            </a:extLst>
          </p:cNvPr>
          <p:cNvPicPr>
            <a:picLocks noChangeAspect="1"/>
          </p:cNvPicPr>
          <p:nvPr/>
        </p:nvPicPr>
        <p:blipFill>
          <a:blip r:embed="rId2"/>
          <a:stretch>
            <a:fillRect/>
          </a:stretch>
        </p:blipFill>
        <p:spPr>
          <a:xfrm>
            <a:off x="1105369" y="3019551"/>
            <a:ext cx="5356171" cy="349686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Scatter Plot</a:t>
            </a:r>
          </a:p>
        </p:txBody>
      </p:sp>
      <p:sp>
        <p:nvSpPr>
          <p:cNvPr id="3" name="Content Placeholder 2"/>
          <p:cNvSpPr>
            <a:spLocks noGrp="1"/>
          </p:cNvSpPr>
          <p:nvPr>
            <p:ph idx="1"/>
          </p:nvPr>
        </p:nvSpPr>
        <p:spPr>
          <a:xfrm>
            <a:off x="1276007" y="1389528"/>
            <a:ext cx="7509405" cy="5118847"/>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Shows link between lead levels and infant mortality.</a:t>
            </a:r>
          </a:p>
          <a:p>
            <a:r>
              <a:rPr lang="en-US" sz="2000" dirty="0">
                <a:latin typeface="Calibri" panose="020F0502020204030204" pitchFamily="34" charset="0"/>
                <a:ea typeface="Calibri" panose="020F0502020204030204" pitchFamily="34" charset="0"/>
                <a:cs typeface="Calibri" panose="020F0502020204030204" pitchFamily="34" charset="0"/>
              </a:rPr>
              <a:t>Identifies health impacts of chemical concentration.</a:t>
            </a:r>
          </a:p>
          <a:p>
            <a:r>
              <a:rPr lang="en-US" sz="2000" dirty="0">
                <a:latin typeface="Calibri" panose="020F0502020204030204" pitchFamily="34" charset="0"/>
                <a:ea typeface="Calibri" panose="020F0502020204030204" pitchFamily="34" charset="0"/>
                <a:cs typeface="Calibri" panose="020F0502020204030204" pitchFamily="34" charset="0"/>
              </a:rPr>
              <a:t>Detects critical trends and outliers in health data.</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CD2D5881-C978-2356-75D7-A96B7E39029D}"/>
              </a:ext>
            </a:extLst>
          </p:cNvPr>
          <p:cNvPicPr>
            <a:picLocks noChangeAspect="1"/>
          </p:cNvPicPr>
          <p:nvPr/>
        </p:nvPicPr>
        <p:blipFill>
          <a:blip r:embed="rId2"/>
          <a:stretch>
            <a:fillRect/>
          </a:stretch>
        </p:blipFill>
        <p:spPr>
          <a:xfrm>
            <a:off x="1074256" y="2815026"/>
            <a:ext cx="5418397" cy="353496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Histogram</a:t>
            </a:r>
          </a:p>
        </p:txBody>
      </p:sp>
      <p:sp>
        <p:nvSpPr>
          <p:cNvPr id="3" name="Content Placeholder 2"/>
          <p:cNvSpPr>
            <a:spLocks noGrp="1"/>
          </p:cNvSpPr>
          <p:nvPr>
            <p:ph idx="1"/>
          </p:nvPr>
        </p:nvSpPr>
        <p:spPr>
          <a:xfrm>
            <a:off x="1276007" y="1398494"/>
            <a:ext cx="7563193" cy="5047130"/>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Displays frequency of different contaminant levels.</a:t>
            </a:r>
          </a:p>
          <a:p>
            <a:r>
              <a:rPr lang="en-US" sz="2000" dirty="0">
                <a:latin typeface="Calibri" panose="020F0502020204030204" pitchFamily="34" charset="0"/>
                <a:ea typeface="Calibri" panose="020F0502020204030204" pitchFamily="34" charset="0"/>
                <a:cs typeface="Calibri" panose="020F0502020204030204" pitchFamily="34" charset="0"/>
              </a:rPr>
              <a:t>Identifies the most common range of pollution.</a:t>
            </a:r>
          </a:p>
          <a:p>
            <a:r>
              <a:rPr lang="en-US" sz="2000" dirty="0">
                <a:latin typeface="Calibri" panose="020F0502020204030204" pitchFamily="34" charset="0"/>
                <a:ea typeface="Calibri" panose="020F0502020204030204" pitchFamily="34" charset="0"/>
                <a:cs typeface="Calibri" panose="020F0502020204030204" pitchFamily="34" charset="0"/>
              </a:rPr>
              <a:t>Helps detect skewness or outliers in water safety.</a:t>
            </a:r>
          </a:p>
        </p:txBody>
      </p:sp>
      <p:pic>
        <p:nvPicPr>
          <p:cNvPr id="6" name="Picture 5">
            <a:extLst>
              <a:ext uri="{FF2B5EF4-FFF2-40B4-BE49-F238E27FC236}">
                <a16:creationId xmlns:a16="http://schemas.microsoft.com/office/drawing/2014/main" id="{55974F94-0BF3-7B20-EC4B-63E143BBDB1B}"/>
              </a:ext>
            </a:extLst>
          </p:cNvPr>
          <p:cNvPicPr>
            <a:picLocks noChangeAspect="1"/>
          </p:cNvPicPr>
          <p:nvPr/>
        </p:nvPicPr>
        <p:blipFill>
          <a:blip r:embed="rId2"/>
          <a:stretch>
            <a:fillRect/>
          </a:stretch>
        </p:blipFill>
        <p:spPr>
          <a:xfrm>
            <a:off x="935333" y="2827180"/>
            <a:ext cx="5696244" cy="36184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Pie Chart</a:t>
            </a:r>
          </a:p>
        </p:txBody>
      </p:sp>
      <p:sp>
        <p:nvSpPr>
          <p:cNvPr id="3" name="Content Placeholder 2"/>
          <p:cNvSpPr>
            <a:spLocks noGrp="1"/>
          </p:cNvSpPr>
          <p:nvPr>
            <p:ph idx="1"/>
          </p:nvPr>
        </p:nvSpPr>
        <p:spPr>
          <a:xfrm>
            <a:off x="1308704" y="1344705"/>
            <a:ext cx="7183656" cy="5082989"/>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Illustrates the market share of different water treatment methods.</a:t>
            </a:r>
          </a:p>
          <a:p>
            <a:r>
              <a:rPr lang="en-US" sz="2000" dirty="0">
                <a:latin typeface="Calibri" panose="020F0502020204030204" pitchFamily="34" charset="0"/>
                <a:ea typeface="Calibri" panose="020F0502020204030204" pitchFamily="34" charset="0"/>
                <a:cs typeface="Calibri" panose="020F0502020204030204" pitchFamily="34" charset="0"/>
              </a:rPr>
              <a:t>Highlights Boiling as the most dominant technique at 51.2%.</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204BD2CA-DE04-C42D-E214-0090E05739FF}"/>
              </a:ext>
            </a:extLst>
          </p:cNvPr>
          <p:cNvPicPr>
            <a:picLocks noChangeAspect="1"/>
          </p:cNvPicPr>
          <p:nvPr/>
        </p:nvPicPr>
        <p:blipFill>
          <a:blip r:embed="rId2"/>
          <a:stretch>
            <a:fillRect/>
          </a:stretch>
        </p:blipFill>
        <p:spPr>
          <a:xfrm>
            <a:off x="1487018" y="2654995"/>
            <a:ext cx="5218048" cy="40448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Line </a:t>
            </a:r>
            <a:r>
              <a:rPr b="1" dirty="0">
                <a:latin typeface="Calibri" panose="020F0502020204030204" pitchFamily="34" charset="0"/>
                <a:ea typeface="Calibri" panose="020F0502020204030204" pitchFamily="34" charset="0"/>
                <a:cs typeface="Calibri" panose="020F0502020204030204" pitchFamily="34" charset="0"/>
              </a:rPr>
              <a:t>Plot</a:t>
            </a:r>
          </a:p>
        </p:txBody>
      </p:sp>
      <p:sp>
        <p:nvSpPr>
          <p:cNvPr id="3" name="Content Placeholder 2"/>
          <p:cNvSpPr>
            <a:spLocks noGrp="1"/>
          </p:cNvSpPr>
          <p:nvPr>
            <p:ph idx="1"/>
          </p:nvPr>
        </p:nvSpPr>
        <p:spPr>
          <a:xfrm>
            <a:off x="1276007" y="1264555"/>
            <a:ext cx="7599052" cy="5405186"/>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Tracks the relationship between sanitation coverage and clean water access.</a:t>
            </a:r>
          </a:p>
          <a:p>
            <a:r>
              <a:rPr lang="en-US" sz="2000" dirty="0">
                <a:latin typeface="Calibri" panose="020F0502020204030204" pitchFamily="34" charset="0"/>
                <a:ea typeface="Calibri" panose="020F0502020204030204" pitchFamily="34" charset="0"/>
                <a:cs typeface="Calibri" panose="020F0502020204030204" pitchFamily="34" charset="0"/>
              </a:rPr>
              <a:t>Visualizes fluctuations in water availability across different population bins.</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6460F5B7-223A-47A8-2EBE-E514F26117AC}"/>
              </a:ext>
            </a:extLst>
          </p:cNvPr>
          <p:cNvPicPr>
            <a:picLocks noChangeAspect="1"/>
          </p:cNvPicPr>
          <p:nvPr/>
        </p:nvPicPr>
        <p:blipFill>
          <a:blip r:embed="rId2"/>
          <a:stretch>
            <a:fillRect/>
          </a:stretch>
        </p:blipFill>
        <p:spPr>
          <a:xfrm>
            <a:off x="1030011" y="2724295"/>
            <a:ext cx="6206963" cy="384766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Violin Plot</a:t>
            </a:r>
          </a:p>
        </p:txBody>
      </p:sp>
      <p:sp>
        <p:nvSpPr>
          <p:cNvPr id="3" name="Content Placeholder 2"/>
          <p:cNvSpPr>
            <a:spLocks noGrp="1"/>
          </p:cNvSpPr>
          <p:nvPr>
            <p:ph idx="1"/>
          </p:nvPr>
        </p:nvSpPr>
        <p:spPr>
          <a:xfrm>
            <a:off x="1276007" y="1380564"/>
            <a:ext cx="7258393" cy="5217459"/>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Combines box plot and density traces to show data distribution.</a:t>
            </a:r>
          </a:p>
          <a:p>
            <a:r>
              <a:rPr lang="en-US" dirty="0">
                <a:latin typeface="Calibri" panose="020F0502020204030204" pitchFamily="34" charset="0"/>
                <a:ea typeface="Calibri" panose="020F0502020204030204" pitchFamily="34" charset="0"/>
                <a:cs typeface="Calibri" panose="020F0502020204030204" pitchFamily="34" charset="0"/>
              </a:rPr>
              <a:t>Displays the range and concentration of dissolved oxygen across sources.</a:t>
            </a:r>
          </a:p>
          <a:p>
            <a:r>
              <a:rPr lang="en-US" dirty="0">
                <a:latin typeface="Calibri" panose="020F0502020204030204" pitchFamily="34" charset="0"/>
                <a:ea typeface="Calibri" panose="020F0502020204030204" pitchFamily="34" charset="0"/>
                <a:cs typeface="Calibri" panose="020F0502020204030204" pitchFamily="34" charset="0"/>
              </a:rPr>
              <a:t>Helps identify variations in water health and oxygen consistency.</a:t>
            </a:r>
          </a:p>
        </p:txBody>
      </p:sp>
      <p:pic>
        <p:nvPicPr>
          <p:cNvPr id="6" name="Picture 5">
            <a:extLst>
              <a:ext uri="{FF2B5EF4-FFF2-40B4-BE49-F238E27FC236}">
                <a16:creationId xmlns:a16="http://schemas.microsoft.com/office/drawing/2014/main" id="{137E7CDF-1EAA-7476-11B8-0ED05E53A303}"/>
              </a:ext>
            </a:extLst>
          </p:cNvPr>
          <p:cNvPicPr>
            <a:picLocks noChangeAspect="1"/>
          </p:cNvPicPr>
          <p:nvPr/>
        </p:nvPicPr>
        <p:blipFill>
          <a:blip r:embed="rId2"/>
          <a:stretch>
            <a:fillRect/>
          </a:stretch>
        </p:blipFill>
        <p:spPr>
          <a:xfrm>
            <a:off x="923137" y="2891641"/>
            <a:ext cx="5911534" cy="381148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Heatmap</a:t>
            </a:r>
          </a:p>
        </p:txBody>
      </p:sp>
      <p:sp>
        <p:nvSpPr>
          <p:cNvPr id="3" name="Content Placeholder 2"/>
          <p:cNvSpPr>
            <a:spLocks noGrp="1"/>
          </p:cNvSpPr>
          <p:nvPr>
            <p:ph idx="1"/>
          </p:nvPr>
        </p:nvSpPr>
        <p:spPr>
          <a:xfrm>
            <a:off x="1233249" y="1228165"/>
            <a:ext cx="7552163" cy="5005725"/>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Visualizes the correlation between pH, Oxygen, and Contaminant levels.</a:t>
            </a:r>
          </a:p>
          <a:p>
            <a:r>
              <a:rPr lang="en-US" sz="2000" dirty="0">
                <a:latin typeface="Calibri" panose="020F0502020204030204" pitchFamily="34" charset="0"/>
                <a:ea typeface="Calibri" panose="020F0502020204030204" pitchFamily="34" charset="0"/>
                <a:cs typeface="Calibri" panose="020F0502020204030204" pitchFamily="34" charset="0"/>
              </a:rPr>
              <a:t>Helps identify if certain metrics act as predictors for water pollution.</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DBB8C3AB-40FF-40D5-58E6-64DF20D2476B}"/>
              </a:ext>
            </a:extLst>
          </p:cNvPr>
          <p:cNvPicPr>
            <a:picLocks noChangeAspect="1"/>
          </p:cNvPicPr>
          <p:nvPr/>
        </p:nvPicPr>
        <p:blipFill>
          <a:blip r:embed="rId2"/>
          <a:stretch>
            <a:fillRect/>
          </a:stretch>
        </p:blipFill>
        <p:spPr>
          <a:xfrm>
            <a:off x="1790130" y="2704523"/>
            <a:ext cx="4956976" cy="39275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Key Insights</a:t>
            </a:r>
          </a:p>
        </p:txBody>
      </p:sp>
      <p:sp>
        <p:nvSpPr>
          <p:cNvPr id="3" name="Content Placeholder 2"/>
          <p:cNvSpPr>
            <a:spLocks noGrp="1"/>
          </p:cNvSpPr>
          <p:nvPr>
            <p:ph idx="1"/>
          </p:nvPr>
        </p:nvSpPr>
        <p:spPr>
          <a:xfrm>
            <a:off x="630619" y="2076510"/>
            <a:ext cx="6347714" cy="4282251"/>
          </a:xfrm>
        </p:spPr>
        <p:txBody>
          <a:bodyPr>
            <a:no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Policy over Wealth:</a:t>
            </a:r>
            <a:r>
              <a:rPr lang="en-US" sz="2000" dirty="0">
                <a:latin typeface="Calibri" panose="020F0502020204030204" pitchFamily="34" charset="0"/>
                <a:ea typeface="Calibri" panose="020F0502020204030204" pitchFamily="34" charset="0"/>
                <a:cs typeface="Calibri" panose="020F0502020204030204" pitchFamily="34" charset="0"/>
              </a:rPr>
              <a:t> Higher GDP doesn't guarantee clean water; strong government policy matters more.</a:t>
            </a:r>
          </a:p>
          <a:p>
            <a:r>
              <a:rPr lang="en-US" sz="2000" b="1" dirty="0">
                <a:latin typeface="Calibri" panose="020F0502020204030204" pitchFamily="34" charset="0"/>
                <a:ea typeface="Calibri" panose="020F0502020204030204" pitchFamily="34" charset="0"/>
                <a:cs typeface="Calibri" panose="020F0502020204030204" pitchFamily="34" charset="0"/>
              </a:rPr>
              <a:t>Hidden Bacterial Risk:</a:t>
            </a:r>
            <a:r>
              <a:rPr lang="en-US" sz="2000" dirty="0">
                <a:latin typeface="Calibri" panose="020F0502020204030204" pitchFamily="34" charset="0"/>
                <a:ea typeface="Calibri" panose="020F0502020204030204" pitchFamily="34" charset="0"/>
                <a:cs typeface="Calibri" panose="020F0502020204030204" pitchFamily="34" charset="0"/>
              </a:rPr>
              <a:t> Wells are just as contaminated as rivers; natural sources are not "safer.“</a:t>
            </a:r>
          </a:p>
          <a:p>
            <a:r>
              <a:rPr lang="en-US" sz="2000" b="1" dirty="0">
                <a:latin typeface="Calibri" panose="020F0502020204030204" pitchFamily="34" charset="0"/>
                <a:ea typeface="Calibri" panose="020F0502020204030204" pitchFamily="34" charset="0"/>
                <a:cs typeface="Calibri" panose="020F0502020204030204" pitchFamily="34" charset="0"/>
              </a:rPr>
              <a:t>Deceptive Metrics:</a:t>
            </a:r>
            <a:r>
              <a:rPr lang="en-US" sz="2000" dirty="0">
                <a:latin typeface="Calibri" panose="020F0502020204030204" pitchFamily="34" charset="0"/>
                <a:ea typeface="Calibri" panose="020F0502020204030204" pitchFamily="34" charset="0"/>
                <a:cs typeface="Calibri" panose="020F0502020204030204" pitchFamily="34" charset="0"/>
              </a:rPr>
              <a:t> Water can have perfect pH and Oxygen levels while still being highly toxic.</a:t>
            </a:r>
          </a:p>
          <a:p>
            <a:r>
              <a:rPr lang="en-US" sz="2000" b="1" dirty="0">
                <a:latin typeface="Calibri" panose="020F0502020204030204" pitchFamily="34" charset="0"/>
                <a:ea typeface="Calibri" panose="020F0502020204030204" pitchFamily="34" charset="0"/>
                <a:cs typeface="Calibri" panose="020F0502020204030204" pitchFamily="34" charset="0"/>
              </a:rPr>
              <a:t>Infrastructure Mismatch:</a:t>
            </a:r>
            <a:r>
              <a:rPr lang="en-US" sz="2000" dirty="0">
                <a:latin typeface="Calibri" panose="020F0502020204030204" pitchFamily="34" charset="0"/>
                <a:ea typeface="Calibri" panose="020F0502020204030204" pitchFamily="34" charset="0"/>
                <a:cs typeface="Calibri" panose="020F0502020204030204" pitchFamily="34" charset="0"/>
              </a:rPr>
              <a:t> Sanitation and clean water access grow separately, showing a lack of integrated planning.</a:t>
            </a:r>
          </a:p>
          <a:p>
            <a:r>
              <a:rPr lang="en-US" sz="2000" b="1" dirty="0">
                <a:latin typeface="Calibri" panose="020F0502020204030204" pitchFamily="34" charset="0"/>
                <a:ea typeface="Calibri" panose="020F0502020204030204" pitchFamily="34" charset="0"/>
                <a:cs typeface="Calibri" panose="020F0502020204030204" pitchFamily="34" charset="0"/>
              </a:rPr>
              <a:t>No Universal Treatment:</a:t>
            </a:r>
            <a:r>
              <a:rPr lang="en-US" sz="2000" dirty="0">
                <a:latin typeface="Calibri" panose="020F0502020204030204" pitchFamily="34" charset="0"/>
                <a:ea typeface="Calibri" panose="020F0502020204030204" pitchFamily="34" charset="0"/>
                <a:cs typeface="Calibri" panose="020F0502020204030204" pitchFamily="34" charset="0"/>
              </a:rPr>
              <a:t> No single "best" method exists; safe water requires combining different treatment types.</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Recommendations</a:t>
            </a:r>
            <a:endParaRPr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51639" y="2076510"/>
            <a:ext cx="6347714" cy="4087810"/>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Prioritize policy and infrastructure over general economic growth.</a:t>
            </a:r>
          </a:p>
          <a:p>
            <a:r>
              <a:rPr lang="en-US" sz="2000" dirty="0">
                <a:latin typeface="Calibri" panose="020F0502020204030204" pitchFamily="34" charset="0"/>
                <a:ea typeface="Calibri" panose="020F0502020204030204" pitchFamily="34" charset="0"/>
                <a:cs typeface="Calibri" panose="020F0502020204030204" pitchFamily="34" charset="0"/>
              </a:rPr>
              <a:t>Mandate water treatment for all sources, including wells.</a:t>
            </a:r>
          </a:p>
          <a:p>
            <a:r>
              <a:rPr lang="en-US" sz="2000" dirty="0">
                <a:latin typeface="Calibri" panose="020F0502020204030204" pitchFamily="34" charset="0"/>
                <a:ea typeface="Calibri" panose="020F0502020204030204" pitchFamily="34" charset="0"/>
                <a:cs typeface="Calibri" panose="020F0502020204030204" pitchFamily="34" charset="0"/>
              </a:rPr>
              <a:t>Implement multi-metric testing beyond basic pH and oxygen.</a:t>
            </a:r>
          </a:p>
          <a:p>
            <a:r>
              <a:rPr lang="en-US" sz="2000" dirty="0">
                <a:latin typeface="Calibri" panose="020F0502020204030204" pitchFamily="34" charset="0"/>
                <a:ea typeface="Calibri" panose="020F0502020204030204" pitchFamily="34" charset="0"/>
                <a:cs typeface="Calibri" panose="020F0502020204030204" pitchFamily="34" charset="0"/>
              </a:rPr>
              <a:t>Integrate sanitation and water supply infrastructure planning.</a:t>
            </a:r>
          </a:p>
          <a:p>
            <a:r>
              <a:rPr lang="en-US" sz="2000" dirty="0">
                <a:latin typeface="Calibri" panose="020F0502020204030204" pitchFamily="34" charset="0"/>
                <a:ea typeface="Calibri" panose="020F0502020204030204" pitchFamily="34" charset="0"/>
                <a:cs typeface="Calibri" panose="020F0502020204030204" pitchFamily="34" charset="0"/>
              </a:rPr>
              <a:t>Deploy multi-barrier treatment frameworks to ensure safety.</a:t>
            </a:r>
            <a:endParaRPr sz="2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3" name="Content Placeholder 2"/>
          <p:cNvSpPr>
            <a:spLocks noGrp="1"/>
          </p:cNvSpPr>
          <p:nvPr>
            <p:ph idx="1"/>
          </p:nvPr>
        </p:nvSpPr>
        <p:spPr>
          <a:xfrm>
            <a:off x="695538" y="2057865"/>
            <a:ext cx="7933764" cy="3312921"/>
          </a:xfrm>
        </p:spPr>
        <p:txBody>
          <a:bodyPr>
            <a:normAutofit/>
          </a:bodyPr>
          <a:lstStyle/>
          <a:p>
            <a:r>
              <a:rPr lang="en-US" sz="2200" dirty="0">
                <a:latin typeface="Calibri" panose="020F0502020204030204" pitchFamily="34" charset="0"/>
                <a:ea typeface="Calibri" panose="020F0502020204030204" pitchFamily="34" charset="0"/>
                <a:cs typeface="Calibri" panose="020F0502020204030204" pitchFamily="34" charset="0"/>
              </a:rPr>
              <a:t>Water pollution is a systemic global issue, not a localized one.</a:t>
            </a:r>
          </a:p>
          <a:p>
            <a:r>
              <a:rPr lang="en-US" sz="2200" dirty="0">
                <a:latin typeface="Calibri" panose="020F0502020204030204" pitchFamily="34" charset="0"/>
                <a:ea typeface="Calibri" panose="020F0502020204030204" pitchFamily="34" charset="0"/>
                <a:cs typeface="Calibri" panose="020F0502020204030204" pitchFamily="34" charset="0"/>
              </a:rPr>
              <a:t>Economic wealth alone is insufficient for ensuring water safety.</a:t>
            </a:r>
          </a:p>
          <a:p>
            <a:r>
              <a:rPr lang="en-US" sz="2200" dirty="0">
                <a:latin typeface="Calibri" panose="020F0502020204030204" pitchFamily="34" charset="0"/>
                <a:ea typeface="Calibri" panose="020F0502020204030204" pitchFamily="34" charset="0"/>
                <a:cs typeface="Calibri" panose="020F0502020204030204" pitchFamily="34" charset="0"/>
              </a:rPr>
              <a:t>Natural sources like wells require mandatory active treatment.</a:t>
            </a:r>
          </a:p>
          <a:p>
            <a:r>
              <a:rPr lang="en-US" sz="2200" dirty="0">
                <a:latin typeface="Calibri" panose="020F0502020204030204" pitchFamily="34" charset="0"/>
                <a:ea typeface="Calibri" panose="020F0502020204030204" pitchFamily="34" charset="0"/>
                <a:cs typeface="Calibri" panose="020F0502020204030204" pitchFamily="34" charset="0"/>
              </a:rPr>
              <a:t>Chemical metrics (pH/Oxygen) do not fully guarantee safe water.</a:t>
            </a:r>
          </a:p>
          <a:p>
            <a:r>
              <a:rPr lang="en-US" sz="2200" dirty="0">
                <a:latin typeface="Calibri" panose="020F0502020204030204" pitchFamily="34" charset="0"/>
                <a:ea typeface="Calibri" panose="020F0502020204030204" pitchFamily="34" charset="0"/>
                <a:cs typeface="Calibri" panose="020F0502020204030204" pitchFamily="34" charset="0"/>
              </a:rPr>
              <a:t>Integrated planning of sanitation and supply is critical for health.</a:t>
            </a:r>
          </a:p>
          <a:p>
            <a:endParaRPr lang="en-US" sz="22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C5A449-D893-1CA5-9C8E-7D6806222582}"/>
              </a:ext>
            </a:extLst>
          </p:cNvPr>
          <p:cNvSpPr txBox="1"/>
          <p:nvPr/>
        </p:nvSpPr>
        <p:spPr>
          <a:xfrm>
            <a:off x="2611238" y="2844224"/>
            <a:ext cx="4030078" cy="1169551"/>
          </a:xfrm>
          <a:prstGeom prst="rect">
            <a:avLst/>
          </a:prstGeom>
          <a:noFill/>
        </p:spPr>
        <p:txBody>
          <a:bodyPr wrap="none" rtlCol="0">
            <a:spAutoFit/>
          </a:bodyPr>
          <a:lstStyle/>
          <a:p>
            <a:r>
              <a:rPr lang="en-US" sz="7000" b="1" dirty="0">
                <a:solidFill>
                  <a:schemeClr val="accent1"/>
                </a:solidFill>
                <a:latin typeface="Calibri" panose="020F0502020204030204" pitchFamily="34" charset="0"/>
                <a:ea typeface="Calibri" panose="020F0502020204030204" pitchFamily="34" charset="0"/>
                <a:cs typeface="Calibri" panose="020F0502020204030204" pitchFamily="34" charset="0"/>
              </a:rPr>
              <a:t>Thank You</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298</TotalTime>
  <Words>1595</Words>
  <Application>Microsoft Office PowerPoint</Application>
  <PresentationFormat>On-screen Show (4:3)</PresentationFormat>
  <Paragraphs>127</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Times New Roman</vt:lpstr>
      <vt:lpstr>Trebuchet MS</vt:lpstr>
      <vt:lpstr>Wingdings</vt:lpstr>
      <vt:lpstr>Wingdings 3</vt:lpstr>
      <vt:lpstr>Facet</vt:lpstr>
      <vt:lpstr>Global Water Quality &amp; Health Impact Analysis </vt:lpstr>
      <vt:lpstr>Introduction</vt:lpstr>
      <vt:lpstr>Objective</vt:lpstr>
      <vt:lpstr>Business Understanding</vt:lpstr>
      <vt:lpstr>Data Overview</vt:lpstr>
      <vt:lpstr>Dataset</vt:lpstr>
      <vt:lpstr>PowerPoint Presentation</vt:lpstr>
      <vt:lpstr>Data Source</vt:lpstr>
      <vt:lpstr>EDA Process</vt:lpstr>
      <vt:lpstr>EDA Using Packages</vt:lpstr>
      <vt:lpstr>Data Cleaning</vt:lpstr>
      <vt:lpstr>PowerPoint Presentation</vt:lpstr>
      <vt:lpstr>PowerPoint Presentation</vt:lpstr>
      <vt:lpstr>Bar Chart</vt:lpstr>
      <vt:lpstr>Scatter Plot</vt:lpstr>
      <vt:lpstr>Histogram</vt:lpstr>
      <vt:lpstr>Pie Chart</vt:lpstr>
      <vt:lpstr>Line Plot</vt:lpstr>
      <vt:lpstr>Violin Plot</vt:lpstr>
      <vt:lpstr>Heatmap</vt:lpstr>
      <vt:lpstr>Key Insights</vt:lpstr>
      <vt:lpstr>Recommendations</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Archand</dc:creator>
  <cp:keywords/>
  <dc:description>generated using python-pptx</dc:description>
  <cp:lastModifiedBy>ARCHAND RAJ</cp:lastModifiedBy>
  <cp:revision>12</cp:revision>
  <dcterms:created xsi:type="dcterms:W3CDTF">2013-01-27T09:14:16Z</dcterms:created>
  <dcterms:modified xsi:type="dcterms:W3CDTF">2026-05-07T07:17:05Z</dcterms:modified>
  <cp:category/>
</cp:coreProperties>
</file>